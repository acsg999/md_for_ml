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02FDD-153F-4DA7-83FF-876F0D4308C6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A149F-2A7A-494D-B0D3-E864A2DDAA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4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Bilingual README cover and reading roadmap. Solid arrows indicate suggested reading order, not algorithm ancestry.</a:t>
            </a:r>
          </a:p>
          <a:p>
            <a:r>
              <a:rPr lang="en-US" altLang="zh-CN"/>
              <a:t>Sources: deep_learning/KNN.md; deep_learning/mlp.md; rl-xihu/</a:t>
            </a:r>
            <a:r>
              <a:rPr lang="zh-CN" altLang="en-US"/>
              <a:t>西湖大学强化学习</a:t>
            </a:r>
            <a:r>
              <a:rPr lang="en-US" altLang="zh-CN"/>
              <a:t>.md; rl-algorithms/TRPO_handnote.md; thought_on_embodied_robot/roadmap_for_embodied_tech.tex.</a:t>
            </a:r>
          </a:p>
          <a:p>
            <a:r>
              <a:rPr lang="en-US" altLang="zh-CN"/>
              <a:t>Only existing standalone notes are listed. The embodied overview remains in Chinese.</a:t>
            </a:r>
          </a:p>
          <a:p>
            <a:r>
              <a:rPr lang="en-US" altLang="zh-CN"/>
              <a:t>All text, stations, background regions, and route connectors are editable native PowerPoint objects.</a:t>
            </a:r>
          </a:p>
          <a:p>
            <a:r>
              <a:rPr lang="en-US" altLang="zh-CN"/>
              <a:t>Slide 1: Chinese cover. Slide 2: English cover. Export with python scripts/export_reading_roadmap.py.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A149F-2A7A-494D-B0D3-E864A2DDAA5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133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Bilingual README cover and reading roadmap. Solid arrows indicate suggested reading order, not algorithm ancestry.</a:t>
            </a:r>
          </a:p>
          <a:p>
            <a:r>
              <a:rPr lang="en-US" altLang="zh-CN"/>
              <a:t>Sources: deep_learning/KNN.md; deep_learning/mlp.md; rl-xihu/</a:t>
            </a:r>
            <a:r>
              <a:rPr lang="zh-CN" altLang="en-US"/>
              <a:t>西湖大学强化学习</a:t>
            </a:r>
            <a:r>
              <a:rPr lang="en-US" altLang="zh-CN"/>
              <a:t>.md; rl-algorithms/TRPO_handnote.md; thought_on_embodied_robot/roadmap_for_embodied_tech.tex.</a:t>
            </a:r>
          </a:p>
          <a:p>
            <a:r>
              <a:rPr lang="en-US" altLang="zh-CN"/>
              <a:t>Only existing standalone notes are listed. The embodied overview remains in Chinese.</a:t>
            </a:r>
          </a:p>
          <a:p>
            <a:r>
              <a:rPr lang="en-US" altLang="zh-CN"/>
              <a:t>All text, stations, background regions, and route connectors are editable native PowerPoint objects.</a:t>
            </a:r>
          </a:p>
          <a:p>
            <a:r>
              <a:rPr lang="en-US" altLang="zh-CN"/>
              <a:t>Slide 1: Chinese cover. Slide 2: English cover. Export with python scripts/export_reading_roadmap.py.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A149F-2A7A-494D-B0D3-E864A2DDAA5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248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4FF00-9DD2-9D62-DF1C-53EF94007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402954"/>
            <a:ext cx="11430000" cy="29845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15E33E-5F2C-72D4-CF8C-63417F6FC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502547"/>
            <a:ext cx="11430000" cy="206970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72922-6FDF-E3DC-E12A-5DF52945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350E59-4509-E793-D2BB-CC6D9EE5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07C227-D36A-E7C8-39B0-1A9DD620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66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12D1A-9C34-16BF-0CD0-69E61375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8BBD5-951F-FAFA-A7C9-B7DCB0A12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DBD09-6F18-FDC3-B893-D59C1D8C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197C95-1F33-F0C8-94FD-9F56CE97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C2A56B-8E40-E2EC-AC6E-1E1A18E2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255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3DF6A-70D2-5569-946C-F82ADDF3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2137175"/>
            <a:ext cx="13144500" cy="356592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B0745B-0269-9B93-CD7D-FF9851811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813" y="5736831"/>
            <a:ext cx="13144500" cy="18752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2A761-C167-CEF7-B33C-E094CDBD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978950-33CB-5CDC-02A9-D05885EC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79C4C-00FC-BBF8-ED90-CC761DB7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03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FD873-B5A8-E314-F98F-DD64D7203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F78959-4350-0016-70CE-69A9220A4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750" y="2282031"/>
            <a:ext cx="6477000" cy="54391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29B88B-2463-64A1-E330-849D4DFEB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15250" y="2282031"/>
            <a:ext cx="6477000" cy="54391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564250-A7A8-9F89-DB48-C51BCB38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F7D315-1C4B-F7AD-C64D-2FB84A2D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34B044-1B07-1B50-2CFA-F47F82A8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376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000B4-6B4A-C438-8C25-3818210FA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5" y="456408"/>
            <a:ext cx="13144500" cy="16569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050E86-F505-2B79-548D-9CF5D2634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736" y="2101454"/>
            <a:ext cx="6447234" cy="10298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672BEA-1CE1-CC3C-640A-5E5F3AB1E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736" y="3131344"/>
            <a:ext cx="6447234" cy="46057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210B6D-3D84-52EB-B94A-626636D30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5251" y="2101454"/>
            <a:ext cx="6478985" cy="10298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D8AD2F-1FAF-E1A4-06C1-41C5CD4F3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5251" y="3131344"/>
            <a:ext cx="6478985" cy="46057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7FCAF-9CCB-34CF-C301-323848AB0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B3735C-A831-801D-7141-5681C662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944067-C3A5-E350-D74B-6A8D1200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48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E9899-F02C-8BFD-F10F-587D6C81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B43CE8-776A-4300-8B66-D66AB1EB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AE3A36-A979-CD6F-77B1-BA50EC52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32452-CF8C-0761-7D94-5C7EC9F5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7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534730-1F9D-35DB-B4D7-E2B8C0BB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FEF598-95CD-D9E1-32EF-0A14EC0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68C57B-0E38-A0A8-698F-4F8CB93E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36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4EBB2-365E-0BD8-78EF-2E1D250BB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571500"/>
            <a:ext cx="4915296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81813E-2297-4A91-68FA-0259370B8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985" y="1234283"/>
            <a:ext cx="7715250" cy="609203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517B97-59F9-FF04-E015-939E90585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2571750"/>
            <a:ext cx="4915296" cy="476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7AC20-9A0A-B0F1-5550-5A4F87B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07E179-A2A5-EF66-6049-2C98DEDB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1F14CF-BA6B-FA1E-56DA-DFE5D6B4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22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E9C51-6FBC-0AD1-59C2-2D88C321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736" y="571500"/>
            <a:ext cx="4915296" cy="20002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DF54FB-F96A-976E-4010-E0187D76E1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478985" y="1234283"/>
            <a:ext cx="7715250" cy="60920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1F5AD0-08E8-C9A8-C615-1BB565513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736" y="2571750"/>
            <a:ext cx="4915296" cy="476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3E469E-305E-7BA9-AFC2-686EACA3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1B54CC-F3DF-F2B9-D995-FD54EE05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FC4679-4D03-5EAE-F9C1-EBA7B842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2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7BB5D-0344-D44F-7025-2050BCE2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E142C3-6D2D-7FB1-5163-4A717AA1A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B1CC6B-0C94-4199-39C3-894BC59D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9A54FA-4519-B669-6596-7B614AB6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8A42F0-111A-452C-E2EE-529673F6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882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86A1A13-88EE-AA2C-0559-CEEC0E076E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06126" y="456406"/>
            <a:ext cx="3286125" cy="72647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AF8C60-6C3F-F464-7D25-D9199F7EF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751" y="456406"/>
            <a:ext cx="9667875" cy="72647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74B4E0-C903-B121-45B0-31297F0C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ED91E-4B0D-997A-79F9-0B14DAB5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28F70-03F6-C78B-C89A-C52D1E60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69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81F148-F616-0A5C-0AD0-6A4B7D99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456408"/>
            <a:ext cx="13144500" cy="1656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7E7257-C9B3-4FB4-995E-83B0A67AD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2282031"/>
            <a:ext cx="13144500" cy="5439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17C54E-B4EA-F8C0-41C5-137D03B90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" y="7945440"/>
            <a:ext cx="3429000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F4DC3-A9B7-4233-B875-0495617B0171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9AA70C-3FAE-017A-DA6D-8C7EAFDE8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8250" y="7945440"/>
            <a:ext cx="5143500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44FB9A-35E1-3F92-B430-C792CB366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3250" y="7945440"/>
            <a:ext cx="3429000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38D8B-3647-4D48-B2C4-CB88A56BB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08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hero-motif">
            <a:extLst>
              <a:ext uri="{FF2B5EF4-FFF2-40B4-BE49-F238E27FC236}">
                <a16:creationId xmlns:a16="http://schemas.microsoft.com/office/drawing/2014/main" id="{F8D07A17-71DD-1F17-0DCC-EEC4FAA9D1EF}"/>
              </a:ext>
            </a:extLst>
          </p:cNvPr>
          <p:cNvGrpSpPr/>
          <p:nvPr/>
        </p:nvGrpSpPr>
        <p:grpSpPr>
          <a:xfrm>
            <a:off x="10687050" y="857250"/>
            <a:ext cx="3829050" cy="762000"/>
            <a:chOff x="10687050" y="857250"/>
            <a:chExt cx="3829050" cy="76200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822A53D-C82A-F002-65A1-34A35F626771}"/>
                </a:ext>
              </a:extLst>
            </p:cNvPr>
            <p:cNvSpPr/>
            <p:nvPr/>
          </p:nvSpPr>
          <p:spPr>
            <a:xfrm>
              <a:off x="11153775" y="857250"/>
              <a:ext cx="247650" cy="247650"/>
            </a:xfrm>
            <a:prstGeom prst="ellipse">
              <a:avLst/>
            </a:prstGeom>
            <a:solidFill>
              <a:srgbClr val="197C7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D813E7E-8240-28E4-5C08-15618B4E1631}"/>
                </a:ext>
              </a:extLst>
            </p:cNvPr>
            <p:cNvSpPr txBox="1"/>
            <p:nvPr/>
          </p:nvSpPr>
          <p:spPr>
            <a:xfrm>
              <a:off x="10687050" y="1295400"/>
              <a:ext cx="11811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建模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41CEA6D-9507-5635-4802-5B3CE8938424}"/>
                </a:ext>
              </a:extLst>
            </p:cNvPr>
            <p:cNvSpPr/>
            <p:nvPr/>
          </p:nvSpPr>
          <p:spPr>
            <a:xfrm>
              <a:off x="12477750" y="857250"/>
              <a:ext cx="247650" cy="247650"/>
            </a:xfrm>
            <a:prstGeom prst="ellipse">
              <a:avLst/>
            </a:prstGeom>
            <a:solidFill>
              <a:srgbClr val="356E9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B71E659-E7AE-DCBD-E5B4-4D8DEB191BBE}"/>
                </a:ext>
              </a:extLst>
            </p:cNvPr>
            <p:cNvSpPr txBox="1"/>
            <p:nvPr/>
          </p:nvSpPr>
          <p:spPr>
            <a:xfrm>
              <a:off x="12011025" y="1295400"/>
              <a:ext cx="11811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决策</a:t>
              </a: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BCDFFDB-BE5C-4C0A-AC8C-9301CF2162BF}"/>
                </a:ext>
              </a:extLst>
            </p:cNvPr>
            <p:cNvSpPr/>
            <p:nvPr/>
          </p:nvSpPr>
          <p:spPr>
            <a:xfrm>
              <a:off x="13801725" y="857250"/>
              <a:ext cx="247650" cy="247650"/>
            </a:xfrm>
            <a:prstGeom prst="ellipse">
              <a:avLst/>
            </a:prstGeom>
            <a:solidFill>
              <a:srgbClr val="C3663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7D21BF6-4333-FD03-E48C-0E22E2113B18}"/>
                </a:ext>
              </a:extLst>
            </p:cNvPr>
            <p:cNvSpPr txBox="1"/>
            <p:nvPr/>
          </p:nvSpPr>
          <p:spPr>
            <a:xfrm>
              <a:off x="13335000" y="1295400"/>
              <a:ext cx="11811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行动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11E3F872-F13C-E9FC-1201-AFE35E8E0532}"/>
                </a:ext>
              </a:extLst>
            </p:cNvPr>
            <p:cNvCxnSpPr/>
            <p:nvPr/>
          </p:nvCxnSpPr>
          <p:spPr>
            <a:xfrm>
              <a:off x="11487150" y="981075"/>
              <a:ext cx="904875" cy="0"/>
            </a:xfrm>
            <a:prstGeom prst="straightConnector1">
              <a:avLst/>
            </a:prstGeom>
            <a:ln w="16192">
              <a:solidFill>
                <a:srgbClr val="52687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AC3D74B2-C710-2F1D-EE8B-6303935BF180}"/>
                </a:ext>
              </a:extLst>
            </p:cNvPr>
            <p:cNvCxnSpPr/>
            <p:nvPr/>
          </p:nvCxnSpPr>
          <p:spPr>
            <a:xfrm>
              <a:off x="12811125" y="981075"/>
              <a:ext cx="904875" cy="0"/>
            </a:xfrm>
            <a:prstGeom prst="straightConnector1">
              <a:avLst/>
            </a:prstGeom>
            <a:ln w="16192">
              <a:solidFill>
                <a:srgbClr val="52687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hero">
            <a:extLst>
              <a:ext uri="{FF2B5EF4-FFF2-40B4-BE49-F238E27FC236}">
                <a16:creationId xmlns:a16="http://schemas.microsoft.com/office/drawing/2014/main" id="{515D315B-0FF9-C14C-6D11-729DF37B3192}"/>
              </a:ext>
            </a:extLst>
          </p:cNvPr>
          <p:cNvGrpSpPr/>
          <p:nvPr/>
        </p:nvGrpSpPr>
        <p:grpSpPr>
          <a:xfrm>
            <a:off x="609600" y="428625"/>
            <a:ext cx="14020800" cy="2105025"/>
            <a:chOff x="609600" y="428625"/>
            <a:chExt cx="14020800" cy="210502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8847986-9672-ED39-B1B6-E0440DEBAAC4}"/>
                </a:ext>
              </a:extLst>
            </p:cNvPr>
            <p:cNvSpPr/>
            <p:nvPr/>
          </p:nvSpPr>
          <p:spPr>
            <a:xfrm>
              <a:off x="609600" y="495300"/>
              <a:ext cx="76200" cy="1152525"/>
            </a:xfrm>
            <a:prstGeom prst="rect">
              <a:avLst/>
            </a:prstGeom>
            <a:solidFill>
              <a:srgbClr val="197C7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0DBEB88-EB96-EB2B-A306-6C0DC0730098}"/>
                </a:ext>
              </a:extLst>
            </p:cNvPr>
            <p:cNvSpPr txBox="1"/>
            <p:nvPr/>
          </p:nvSpPr>
          <p:spPr>
            <a:xfrm>
              <a:off x="876300" y="428625"/>
              <a:ext cx="9715500" cy="990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5100" b="1">
                  <a:solidFill>
                    <a:srgbClr val="142E3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自动化之后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53FF486-A728-194C-0D9A-C419DBA3546F}"/>
                </a:ext>
              </a:extLst>
            </p:cNvPr>
            <p:cNvSpPr txBox="1"/>
            <p:nvPr/>
          </p:nvSpPr>
          <p:spPr>
            <a:xfrm>
              <a:off x="914400" y="1457325"/>
              <a:ext cx="9906000" cy="4476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232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具身智能学习笔记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1A24407-5A81-162F-8467-6ED8F5D73320}"/>
                </a:ext>
              </a:extLst>
            </p:cNvPr>
            <p:cNvSpPr txBox="1"/>
            <p:nvPr/>
          </p:nvSpPr>
          <p:spPr>
            <a:xfrm>
              <a:off x="609600" y="2133600"/>
              <a:ext cx="13430250" cy="3333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建议阅读顺序 </a:t>
              </a: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已有基础可跳读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08516D5C-3FA8-6668-F0DC-4AE7F1B24BAC}"/>
                </a:ext>
              </a:extLst>
            </p:cNvPr>
            <p:cNvCxnSpPr/>
            <p:nvPr/>
          </p:nvCxnSpPr>
          <p:spPr>
            <a:xfrm>
              <a:off x="609600" y="2533650"/>
              <a:ext cx="14020800" cy="0"/>
            </a:xfrm>
            <a:prstGeom prst="straightConnector1">
              <a:avLst/>
            </a:prstGeom>
            <a:ln w="11430">
              <a:solidFill>
                <a:srgbClr val="CCD7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deep_learning">
            <a:extLst>
              <a:ext uri="{FF2B5EF4-FFF2-40B4-BE49-F238E27FC236}">
                <a16:creationId xmlns:a16="http://schemas.microsoft.com/office/drawing/2014/main" id="{AEFEE59E-6C67-995A-79CC-04E2BA3343E4}"/>
              </a:ext>
            </a:extLst>
          </p:cNvPr>
          <p:cNvGrpSpPr/>
          <p:nvPr/>
        </p:nvGrpSpPr>
        <p:grpSpPr>
          <a:xfrm>
            <a:off x="609600" y="2781300"/>
            <a:ext cx="3714750" cy="2828925"/>
            <a:chOff x="609600" y="2781300"/>
            <a:chExt cx="3714750" cy="282892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25A91DC-FCE2-D961-BA24-27C51E907B74}"/>
                </a:ext>
              </a:extLst>
            </p:cNvPr>
            <p:cNvSpPr txBox="1"/>
            <p:nvPr/>
          </p:nvSpPr>
          <p:spPr>
            <a:xfrm>
              <a:off x="609600" y="2781300"/>
              <a:ext cx="495300" cy="3524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025" b="1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</a:t>
              </a:r>
              <a:endParaRPr lang="zh-CN" altLang="en-US" sz="2025" b="1">
                <a:solidFill>
                  <a:srgbClr val="197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0D8FE16-CFA2-4474-C731-013334974B11}"/>
                </a:ext>
              </a:extLst>
            </p:cNvPr>
            <p:cNvSpPr txBox="1"/>
            <p:nvPr/>
          </p:nvSpPr>
          <p:spPr>
            <a:xfrm>
              <a:off x="1162050" y="2781300"/>
              <a:ext cx="3162300" cy="4000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2100" b="1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数据建模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FF7C75E-C76A-A7D3-225A-9BE7EC8CDF0C}"/>
                </a:ext>
              </a:extLst>
            </p:cNvPr>
            <p:cNvSpPr txBox="1"/>
            <p:nvPr/>
          </p:nvSpPr>
          <p:spPr>
            <a:xfrm>
              <a:off x="1162050" y="3200400"/>
              <a:ext cx="316230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deep_learning</a:t>
              </a:r>
              <a:endParaRPr lang="zh-CN" altLang="en-US" sz="1575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B6DF5FA5-44CC-2704-FD3A-A32555E7F97E}"/>
                </a:ext>
              </a:extLst>
            </p:cNvPr>
            <p:cNvCxnSpPr/>
            <p:nvPr/>
          </p:nvCxnSpPr>
          <p:spPr>
            <a:xfrm>
              <a:off x="952500" y="3905250"/>
              <a:ext cx="0" cy="952500"/>
            </a:xfrm>
            <a:prstGeom prst="straightConnector1">
              <a:avLst/>
            </a:prstGeom>
            <a:ln w="24765">
              <a:solidFill>
                <a:srgbClr val="197C7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22AC4832-0FE2-7619-222A-D509B7E8BA71}"/>
                </a:ext>
              </a:extLst>
            </p:cNvPr>
            <p:cNvSpPr/>
            <p:nvPr/>
          </p:nvSpPr>
          <p:spPr>
            <a:xfrm>
              <a:off x="885825" y="3838575"/>
              <a:ext cx="133350" cy="133350"/>
            </a:xfrm>
            <a:prstGeom prst="ellipse">
              <a:avLst/>
            </a:prstGeom>
            <a:solidFill>
              <a:srgbClr val="197C7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D75315AA-EB2B-730C-2006-194786467065}"/>
                </a:ext>
              </a:extLst>
            </p:cNvPr>
            <p:cNvSpPr/>
            <p:nvPr/>
          </p:nvSpPr>
          <p:spPr>
            <a:xfrm>
              <a:off x="885825" y="4981575"/>
              <a:ext cx="133350" cy="133350"/>
            </a:xfrm>
            <a:prstGeom prst="ellipse">
              <a:avLst/>
            </a:prstGeom>
            <a:solidFill>
              <a:srgbClr val="197C7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7B4D31C-52FA-3842-2C4F-CFD4583654DD}"/>
                </a:ext>
              </a:extLst>
            </p:cNvPr>
            <p:cNvSpPr txBox="1"/>
            <p:nvPr/>
          </p:nvSpPr>
          <p:spPr>
            <a:xfrm>
              <a:off x="1238250" y="3648075"/>
              <a:ext cx="2286000" cy="4667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625" b="1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KNN</a:t>
              </a:r>
              <a:endParaRPr lang="zh-CN" altLang="en-US" sz="2625" b="1">
                <a:solidFill>
                  <a:srgbClr val="197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0E51D25-9A9E-3F90-1589-F40A58ECC592}"/>
                </a:ext>
              </a:extLst>
            </p:cNvPr>
            <p:cNvSpPr txBox="1"/>
            <p:nvPr/>
          </p:nvSpPr>
          <p:spPr>
            <a:xfrm>
              <a:off x="1238250" y="4133850"/>
              <a:ext cx="27813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距离 </a:t>
              </a: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邻居 </a:t>
              </a: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预测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A9CDED1-4093-1D73-9C09-5DD8DD8B4ABC}"/>
                </a:ext>
              </a:extLst>
            </p:cNvPr>
            <p:cNvSpPr txBox="1"/>
            <p:nvPr/>
          </p:nvSpPr>
          <p:spPr>
            <a:xfrm>
              <a:off x="1238250" y="4791075"/>
              <a:ext cx="2152650" cy="457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625" b="1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MLP</a:t>
              </a:r>
              <a:endParaRPr lang="zh-CN" altLang="en-US" sz="2625" b="1">
                <a:solidFill>
                  <a:srgbClr val="197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9BC2098-E105-92F7-D417-5945B8126F30}"/>
                </a:ext>
              </a:extLst>
            </p:cNvPr>
            <p:cNvSpPr txBox="1"/>
            <p:nvPr/>
          </p:nvSpPr>
          <p:spPr>
            <a:xfrm>
              <a:off x="1238250" y="5286375"/>
              <a:ext cx="28575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反向传播 </a:t>
              </a: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梯度更新</a:t>
              </a:r>
            </a:p>
          </p:txBody>
        </p:sp>
      </p:grpSp>
      <p:grpSp>
        <p:nvGrpSpPr>
          <p:cNvPr id="72" name="foundation-to-rl">
            <a:extLst>
              <a:ext uri="{FF2B5EF4-FFF2-40B4-BE49-F238E27FC236}">
                <a16:creationId xmlns:a16="http://schemas.microsoft.com/office/drawing/2014/main" id="{8B724452-20E5-0A3D-D33E-A8ADFD334063}"/>
              </a:ext>
            </a:extLst>
          </p:cNvPr>
          <p:cNvGrpSpPr/>
          <p:nvPr/>
        </p:nvGrpSpPr>
        <p:grpSpPr>
          <a:xfrm>
            <a:off x="3467100" y="3562350"/>
            <a:ext cx="2105025" cy="1485900"/>
            <a:chOff x="3467100" y="3562350"/>
            <a:chExt cx="2105025" cy="1485900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6744D63-FE4F-EE56-86C0-DE42E48C6BE0}"/>
                </a:ext>
              </a:extLst>
            </p:cNvPr>
            <p:cNvCxnSpPr/>
            <p:nvPr/>
          </p:nvCxnSpPr>
          <p:spPr>
            <a:xfrm>
              <a:off x="3467100" y="5048250"/>
              <a:ext cx="933450" cy="0"/>
            </a:xfrm>
            <a:prstGeom prst="straightConnector1">
              <a:avLst/>
            </a:prstGeom>
            <a:ln w="24765">
              <a:solidFill>
                <a:srgbClr val="197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35D8FF8-B312-598B-485F-BCAD7067B2CC}"/>
                </a:ext>
              </a:extLst>
            </p:cNvPr>
            <p:cNvCxnSpPr/>
            <p:nvPr/>
          </p:nvCxnSpPr>
          <p:spPr>
            <a:xfrm flipV="1">
              <a:off x="4400550" y="3905250"/>
              <a:ext cx="0" cy="1143000"/>
            </a:xfrm>
            <a:prstGeom prst="straightConnector1">
              <a:avLst/>
            </a:prstGeom>
            <a:ln w="24765">
              <a:solidFill>
                <a:srgbClr val="197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EC8F8328-1692-B689-0FA9-BE2B5AFF6F83}"/>
                </a:ext>
              </a:extLst>
            </p:cNvPr>
            <p:cNvCxnSpPr/>
            <p:nvPr/>
          </p:nvCxnSpPr>
          <p:spPr>
            <a:xfrm>
              <a:off x="4400550" y="3905250"/>
              <a:ext cx="1104900" cy="0"/>
            </a:xfrm>
            <a:prstGeom prst="straightConnector1">
              <a:avLst/>
            </a:prstGeom>
            <a:ln w="24765">
              <a:solidFill>
                <a:srgbClr val="197C7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0421C3E-B0DC-0B86-1306-C3272EB6410C}"/>
                </a:ext>
              </a:extLst>
            </p:cNvPr>
            <p:cNvSpPr txBox="1"/>
            <p:nvPr/>
          </p:nvSpPr>
          <p:spPr>
            <a:xfrm>
              <a:off x="3905250" y="3562350"/>
              <a:ext cx="1666875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350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进入决策问题</a:t>
              </a:r>
            </a:p>
          </p:txBody>
        </p:sp>
      </p:grpSp>
      <p:grpSp>
        <p:nvGrpSpPr>
          <p:cNvPr id="70" name="rl-xihu">
            <a:extLst>
              <a:ext uri="{FF2B5EF4-FFF2-40B4-BE49-F238E27FC236}">
                <a16:creationId xmlns:a16="http://schemas.microsoft.com/office/drawing/2014/main" id="{697028CC-3047-CE4F-2D12-E19B9233A11C}"/>
              </a:ext>
            </a:extLst>
          </p:cNvPr>
          <p:cNvGrpSpPr/>
          <p:nvPr/>
        </p:nvGrpSpPr>
        <p:grpSpPr>
          <a:xfrm>
            <a:off x="5048250" y="2781300"/>
            <a:ext cx="5905500" cy="3524250"/>
            <a:chOff x="5048250" y="2781300"/>
            <a:chExt cx="5905500" cy="3524250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A1C965B-57CC-F986-1D0F-8966EE9FAB69}"/>
                </a:ext>
              </a:extLst>
            </p:cNvPr>
            <p:cNvSpPr txBox="1"/>
            <p:nvPr/>
          </p:nvSpPr>
          <p:spPr>
            <a:xfrm>
              <a:off x="5048250" y="2781300"/>
              <a:ext cx="495300" cy="3524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025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</a:t>
              </a:r>
              <a:endParaRPr lang="zh-CN" altLang="en-US" sz="2025" b="1">
                <a:solidFill>
                  <a:srgbClr val="356E9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DFF4FBA3-967D-8741-5260-8DED8A16765A}"/>
                </a:ext>
              </a:extLst>
            </p:cNvPr>
            <p:cNvSpPr txBox="1"/>
            <p:nvPr/>
          </p:nvSpPr>
          <p:spPr>
            <a:xfrm>
              <a:off x="5600700" y="2781300"/>
              <a:ext cx="5353050" cy="4000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2100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强化学习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A4E71D0-088F-44CB-48D8-E36729B148D2}"/>
                </a:ext>
              </a:extLst>
            </p:cNvPr>
            <p:cNvSpPr txBox="1"/>
            <p:nvPr/>
          </p:nvSpPr>
          <p:spPr>
            <a:xfrm>
              <a:off x="5600700" y="3200400"/>
              <a:ext cx="535305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rl-xihu</a:t>
              </a:r>
              <a:endParaRPr lang="zh-CN" altLang="en-US" sz="1575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5D38C3BA-CD40-760D-2464-2CB58AAA1AE8}"/>
                </a:ext>
              </a:extLst>
            </p:cNvPr>
            <p:cNvSpPr/>
            <p:nvPr/>
          </p:nvSpPr>
          <p:spPr>
            <a:xfrm>
              <a:off x="5553075" y="3838575"/>
              <a:ext cx="133350" cy="133350"/>
            </a:xfrm>
            <a:prstGeom prst="ellipse">
              <a:avLst/>
            </a:prstGeom>
            <a:solidFill>
              <a:srgbClr val="356E9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902DED34-72BE-C93F-5AAD-A8DFA77D0F12}"/>
                </a:ext>
              </a:extLst>
            </p:cNvPr>
            <p:cNvSpPr/>
            <p:nvPr/>
          </p:nvSpPr>
          <p:spPr>
            <a:xfrm>
              <a:off x="5553075" y="4791075"/>
              <a:ext cx="133350" cy="133350"/>
            </a:xfrm>
            <a:prstGeom prst="ellipse">
              <a:avLst/>
            </a:prstGeom>
            <a:solidFill>
              <a:srgbClr val="356E9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49DB6C1F-66E3-6437-7DF4-46B966B1FD8D}"/>
                </a:ext>
              </a:extLst>
            </p:cNvPr>
            <p:cNvSpPr/>
            <p:nvPr/>
          </p:nvSpPr>
          <p:spPr>
            <a:xfrm>
              <a:off x="5553075" y="5743575"/>
              <a:ext cx="133350" cy="133350"/>
            </a:xfrm>
            <a:prstGeom prst="ellipse">
              <a:avLst/>
            </a:prstGeom>
            <a:solidFill>
              <a:srgbClr val="356E9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D3C5595E-E6A8-7525-16BD-8C729204A917}"/>
                </a:ext>
              </a:extLst>
            </p:cNvPr>
            <p:cNvCxnSpPr/>
            <p:nvPr/>
          </p:nvCxnSpPr>
          <p:spPr>
            <a:xfrm>
              <a:off x="5619750" y="4019550"/>
              <a:ext cx="0" cy="647700"/>
            </a:xfrm>
            <a:prstGeom prst="straightConnector1">
              <a:avLst/>
            </a:prstGeom>
            <a:ln w="24765">
              <a:solidFill>
                <a:srgbClr val="356E9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D359D073-942D-B2FE-35D4-083912291456}"/>
                </a:ext>
              </a:extLst>
            </p:cNvPr>
            <p:cNvCxnSpPr/>
            <p:nvPr/>
          </p:nvCxnSpPr>
          <p:spPr>
            <a:xfrm>
              <a:off x="5619750" y="4972050"/>
              <a:ext cx="0" cy="647700"/>
            </a:xfrm>
            <a:prstGeom prst="straightConnector1">
              <a:avLst/>
            </a:prstGeom>
            <a:ln w="24765">
              <a:solidFill>
                <a:srgbClr val="356E9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325C06B-A666-2CD2-1845-25F1857B37DE}"/>
                </a:ext>
              </a:extLst>
            </p:cNvPr>
            <p:cNvSpPr txBox="1"/>
            <p:nvPr/>
          </p:nvSpPr>
          <p:spPr>
            <a:xfrm>
              <a:off x="5953125" y="3648075"/>
              <a:ext cx="4619625" cy="4286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250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Bellman </a:t>
              </a:r>
              <a:r>
                <a:rPr lang="zh-CN" altLang="en-US" sz="2250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方程 </a:t>
              </a:r>
              <a:r>
                <a:rPr lang="en-US" altLang="zh-CN" sz="2250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2250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价值迭代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132846C-0C3A-7C36-BA67-C062CD50D792}"/>
                </a:ext>
              </a:extLst>
            </p:cNvPr>
            <p:cNvSpPr txBox="1"/>
            <p:nvPr/>
          </p:nvSpPr>
          <p:spPr>
            <a:xfrm>
              <a:off x="5953125" y="4095750"/>
              <a:ext cx="4524375" cy="3143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用回报定义价值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84F11516-40D7-F281-A77F-DD5B8F7C6AD2}"/>
                </a:ext>
              </a:extLst>
            </p:cNvPr>
            <p:cNvSpPr txBox="1"/>
            <p:nvPr/>
          </p:nvSpPr>
          <p:spPr>
            <a:xfrm>
              <a:off x="5953125" y="4600575"/>
              <a:ext cx="4429125" cy="4286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400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MC / TD / DQN</a:t>
              </a:r>
              <a:endParaRPr lang="zh-CN" altLang="en-US" sz="2400" b="1">
                <a:solidFill>
                  <a:srgbClr val="356E9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C88C5BD1-B78D-AC72-4D66-3AC26EAA07E9}"/>
                </a:ext>
              </a:extLst>
            </p:cNvPr>
            <p:cNvSpPr txBox="1"/>
            <p:nvPr/>
          </p:nvSpPr>
          <p:spPr>
            <a:xfrm>
              <a:off x="5953125" y="5048250"/>
              <a:ext cx="4476750" cy="3143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采样估计 </a:t>
              </a: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函数近似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09013FD-E5F7-98A3-475B-3AF4D1E18DCB}"/>
                </a:ext>
              </a:extLst>
            </p:cNvPr>
            <p:cNvSpPr txBox="1"/>
            <p:nvPr/>
          </p:nvSpPr>
          <p:spPr>
            <a:xfrm>
              <a:off x="5953125" y="5553075"/>
              <a:ext cx="4476750" cy="4286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2175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策略梯度 </a:t>
              </a:r>
              <a:r>
                <a:rPr lang="en-US" altLang="zh-CN" sz="2175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/ Actor–Critic</a:t>
              </a:r>
              <a:endParaRPr lang="zh-CN" altLang="en-US" sz="2175" b="1">
                <a:solidFill>
                  <a:srgbClr val="356E9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55A881F-00F0-A6EB-9800-9D43D06ADD47}"/>
                </a:ext>
              </a:extLst>
            </p:cNvPr>
            <p:cNvSpPr txBox="1"/>
            <p:nvPr/>
          </p:nvSpPr>
          <p:spPr>
            <a:xfrm>
              <a:off x="5953125" y="5991225"/>
              <a:ext cx="4476750" cy="3143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用价值估计辅助策略更新</a:t>
              </a:r>
            </a:p>
          </p:txBody>
        </p:sp>
      </p:grpSp>
      <p:grpSp>
        <p:nvGrpSpPr>
          <p:cNvPr id="73" name="trpo-branch">
            <a:extLst>
              <a:ext uri="{FF2B5EF4-FFF2-40B4-BE49-F238E27FC236}">
                <a16:creationId xmlns:a16="http://schemas.microsoft.com/office/drawing/2014/main" id="{CADE45AA-88C4-FE2F-1119-BEB0FAFF8EC8}"/>
              </a:ext>
            </a:extLst>
          </p:cNvPr>
          <p:cNvGrpSpPr/>
          <p:nvPr/>
        </p:nvGrpSpPr>
        <p:grpSpPr>
          <a:xfrm>
            <a:off x="10534650" y="4857750"/>
            <a:ext cx="495300" cy="952500"/>
            <a:chOff x="10534650" y="4857750"/>
            <a:chExt cx="495300" cy="952500"/>
          </a:xfrm>
        </p:grpSpPr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74E16AF4-22B1-FAAA-AD4A-4825AC7D0EB3}"/>
                </a:ext>
              </a:extLst>
            </p:cNvPr>
            <p:cNvCxnSpPr/>
            <p:nvPr/>
          </p:nvCxnSpPr>
          <p:spPr>
            <a:xfrm>
              <a:off x="10534650" y="5810250"/>
              <a:ext cx="381000" cy="0"/>
            </a:xfrm>
            <a:prstGeom prst="straightConnector1">
              <a:avLst/>
            </a:prstGeom>
            <a:ln w="24765">
              <a:solidFill>
                <a:srgbClr val="C36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3360FE4B-8E38-0A32-8807-EA229CA8CDAB}"/>
                </a:ext>
              </a:extLst>
            </p:cNvPr>
            <p:cNvCxnSpPr/>
            <p:nvPr/>
          </p:nvCxnSpPr>
          <p:spPr>
            <a:xfrm flipV="1">
              <a:off x="10915650" y="4857750"/>
              <a:ext cx="0" cy="952500"/>
            </a:xfrm>
            <a:prstGeom prst="straightConnector1">
              <a:avLst/>
            </a:prstGeom>
            <a:ln w="24765">
              <a:solidFill>
                <a:srgbClr val="C36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1D2EB598-B5AD-6057-1F3F-1A5A0F181252}"/>
                </a:ext>
              </a:extLst>
            </p:cNvPr>
            <p:cNvCxnSpPr/>
            <p:nvPr/>
          </p:nvCxnSpPr>
          <p:spPr>
            <a:xfrm>
              <a:off x="10915650" y="4857750"/>
              <a:ext cx="114300" cy="0"/>
            </a:xfrm>
            <a:prstGeom prst="straightConnector1">
              <a:avLst/>
            </a:prstGeom>
            <a:ln w="24765">
              <a:solidFill>
                <a:srgbClr val="C36635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rl-algorithms">
            <a:extLst>
              <a:ext uri="{FF2B5EF4-FFF2-40B4-BE49-F238E27FC236}">
                <a16:creationId xmlns:a16="http://schemas.microsoft.com/office/drawing/2014/main" id="{2157CD79-B4C3-B7A6-BEE3-B058DBDE0C44}"/>
              </a:ext>
            </a:extLst>
          </p:cNvPr>
          <p:cNvGrpSpPr/>
          <p:nvPr/>
        </p:nvGrpSpPr>
        <p:grpSpPr>
          <a:xfrm>
            <a:off x="11077575" y="2781300"/>
            <a:ext cx="3686175" cy="3095625"/>
            <a:chOff x="11077575" y="2781300"/>
            <a:chExt cx="3686175" cy="3095625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12C8052-6459-A421-118A-0799962B2510}"/>
                </a:ext>
              </a:extLst>
            </p:cNvPr>
            <p:cNvSpPr txBox="1"/>
            <p:nvPr/>
          </p:nvSpPr>
          <p:spPr>
            <a:xfrm>
              <a:off x="11144250" y="2781300"/>
              <a:ext cx="495300" cy="3524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025" b="1">
                  <a:solidFill>
                    <a:srgbClr val="C3663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03</a:t>
              </a:r>
              <a:endParaRPr lang="zh-CN" altLang="en-US" sz="2025" b="1">
                <a:solidFill>
                  <a:srgbClr val="C36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A164393-FE83-1FF3-9AD0-1FA43D7C9E00}"/>
                </a:ext>
              </a:extLst>
            </p:cNvPr>
            <p:cNvSpPr txBox="1"/>
            <p:nvPr/>
          </p:nvSpPr>
          <p:spPr>
            <a:xfrm>
              <a:off x="11696700" y="2781300"/>
              <a:ext cx="3067050" cy="4000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2100" b="1">
                  <a:solidFill>
                    <a:srgbClr val="C3663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策略优化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82A68F0-B33D-45E9-178F-6877B50B702A}"/>
                </a:ext>
              </a:extLst>
            </p:cNvPr>
            <p:cNvSpPr txBox="1"/>
            <p:nvPr/>
          </p:nvSpPr>
          <p:spPr>
            <a:xfrm>
              <a:off x="11696700" y="3200400"/>
              <a:ext cx="306705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rl-algorithms</a:t>
              </a:r>
              <a:endParaRPr lang="zh-CN" altLang="en-US" sz="1575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6BF53F47-5557-6452-A629-DE1265951590}"/>
                </a:ext>
              </a:extLst>
            </p:cNvPr>
            <p:cNvSpPr/>
            <p:nvPr/>
          </p:nvSpPr>
          <p:spPr>
            <a:xfrm>
              <a:off x="11077575" y="4791075"/>
              <a:ext cx="133350" cy="133350"/>
            </a:xfrm>
            <a:prstGeom prst="ellipse">
              <a:avLst/>
            </a:prstGeom>
            <a:solidFill>
              <a:srgbClr val="C3663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D5CAB8E-C5B8-C4F8-C8E1-5D6CD71B5F20}"/>
                </a:ext>
              </a:extLst>
            </p:cNvPr>
            <p:cNvSpPr txBox="1"/>
            <p:nvPr/>
          </p:nvSpPr>
          <p:spPr>
            <a:xfrm>
              <a:off x="11477625" y="4572000"/>
              <a:ext cx="3048000" cy="5429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3225" b="1">
                  <a:solidFill>
                    <a:srgbClr val="C3663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TRPO</a:t>
              </a:r>
              <a:endParaRPr lang="zh-CN" altLang="en-US" sz="3225" b="1">
                <a:solidFill>
                  <a:srgbClr val="C36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07D5EDE-7946-73C6-163B-1ABAB5EA9759}"/>
                </a:ext>
              </a:extLst>
            </p:cNvPr>
            <p:cNvSpPr txBox="1"/>
            <p:nvPr/>
          </p:nvSpPr>
          <p:spPr>
            <a:xfrm>
              <a:off x="11477625" y="5200650"/>
              <a:ext cx="3095625" cy="3333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KL </a:t>
              </a:r>
              <a:r>
                <a:rPr lang="zh-CN" altLang="en-US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约束 </a:t>
              </a: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自然梯度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88DAABD2-2844-0670-EF35-EB587565FF5C}"/>
                </a:ext>
              </a:extLst>
            </p:cNvPr>
            <p:cNvSpPr txBox="1"/>
            <p:nvPr/>
          </p:nvSpPr>
          <p:spPr>
            <a:xfrm>
              <a:off x="11477625" y="5543550"/>
              <a:ext cx="3095625" cy="3333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50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共轭梯度 </a:t>
              </a:r>
              <a:r>
                <a:rPr lang="en-US" altLang="zh-CN" sz="150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50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回溯线搜索</a:t>
              </a:r>
            </a:p>
          </p:txBody>
        </p:sp>
      </p:grp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A9AB427-0FB6-0535-6C23-D76B82A77070}"/>
              </a:ext>
            </a:extLst>
          </p:cNvPr>
          <p:cNvSpPr/>
          <p:nvPr/>
        </p:nvSpPr>
        <p:spPr>
          <a:xfrm>
            <a:off x="609600" y="6791325"/>
            <a:ext cx="14020800" cy="1504950"/>
          </a:xfrm>
          <a:prstGeom prst="roundRect">
            <a:avLst>
              <a:gd name="adj" fmla="val 5000"/>
            </a:avLst>
          </a:prstGeom>
          <a:solidFill>
            <a:srgbClr val="142E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4" name="to-embodied">
            <a:extLst>
              <a:ext uri="{FF2B5EF4-FFF2-40B4-BE49-F238E27FC236}">
                <a16:creationId xmlns:a16="http://schemas.microsoft.com/office/drawing/2014/main" id="{CF128FCC-BE74-A744-9548-3CC39BA2A583}"/>
              </a:ext>
            </a:extLst>
          </p:cNvPr>
          <p:cNvGrpSpPr/>
          <p:nvPr/>
        </p:nvGrpSpPr>
        <p:grpSpPr>
          <a:xfrm>
            <a:off x="8001000" y="6381750"/>
            <a:ext cx="6562725" cy="314325"/>
            <a:chOff x="8001000" y="6381750"/>
            <a:chExt cx="6562725" cy="314325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48DF2BE5-2F26-CC5F-BE59-E0B862E674EB}"/>
                </a:ext>
              </a:extLst>
            </p:cNvPr>
            <p:cNvCxnSpPr/>
            <p:nvPr/>
          </p:nvCxnSpPr>
          <p:spPr>
            <a:xfrm>
              <a:off x="8001000" y="6381750"/>
              <a:ext cx="0" cy="295275"/>
            </a:xfrm>
            <a:prstGeom prst="straightConnector1">
              <a:avLst/>
            </a:prstGeom>
            <a:ln w="24765">
              <a:solidFill>
                <a:srgbClr val="356E9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FF517545-EC9A-2171-1DD4-14DF0E92A7D5}"/>
                </a:ext>
              </a:extLst>
            </p:cNvPr>
            <p:cNvSpPr txBox="1"/>
            <p:nvPr/>
          </p:nvSpPr>
          <p:spPr>
            <a:xfrm>
              <a:off x="8229600" y="6400800"/>
              <a:ext cx="6334125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500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走向机器人任务</a:t>
              </a:r>
            </a:p>
          </p:txBody>
        </p:sp>
      </p:grpSp>
      <p:grpSp>
        <p:nvGrpSpPr>
          <p:cNvPr id="75" name="embodied-title">
            <a:extLst>
              <a:ext uri="{FF2B5EF4-FFF2-40B4-BE49-F238E27FC236}">
                <a16:creationId xmlns:a16="http://schemas.microsoft.com/office/drawing/2014/main" id="{897E3D4C-74DF-4B26-C046-8C98CDC7996B}"/>
              </a:ext>
            </a:extLst>
          </p:cNvPr>
          <p:cNvGrpSpPr/>
          <p:nvPr/>
        </p:nvGrpSpPr>
        <p:grpSpPr>
          <a:xfrm>
            <a:off x="914400" y="7000875"/>
            <a:ext cx="3962400" cy="771525"/>
            <a:chOff x="914400" y="7000875"/>
            <a:chExt cx="3962400" cy="771525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86607E3-B716-364A-E602-6AED2BB58481}"/>
                </a:ext>
              </a:extLst>
            </p:cNvPr>
            <p:cNvSpPr txBox="1"/>
            <p:nvPr/>
          </p:nvSpPr>
          <p:spPr>
            <a:xfrm>
              <a:off x="914400" y="7000875"/>
              <a:ext cx="3962400" cy="4000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9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04 </a:t>
              </a:r>
              <a:r>
                <a:rPr lang="zh-CN" altLang="en-US" sz="19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具身智能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F65496C6-083F-C1B0-6519-566599979997}"/>
                </a:ext>
              </a:extLst>
            </p:cNvPr>
            <p:cNvSpPr txBox="1"/>
            <p:nvPr/>
          </p:nvSpPr>
          <p:spPr>
            <a:xfrm>
              <a:off x="914400" y="7467600"/>
              <a:ext cx="390525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thought_on_embodied_robot</a:t>
              </a:r>
              <a:endParaRPr lang="zh-CN" altLang="en-US" sz="1425">
                <a:solidFill>
                  <a:srgbClr val="B7CE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6" name="task">
            <a:extLst>
              <a:ext uri="{FF2B5EF4-FFF2-40B4-BE49-F238E27FC236}">
                <a16:creationId xmlns:a16="http://schemas.microsoft.com/office/drawing/2014/main" id="{09CC88B8-2E63-5051-406C-44A35D4AA8B6}"/>
              </a:ext>
            </a:extLst>
          </p:cNvPr>
          <p:cNvGrpSpPr/>
          <p:nvPr/>
        </p:nvGrpSpPr>
        <p:grpSpPr>
          <a:xfrm>
            <a:off x="5105400" y="7000875"/>
            <a:ext cx="2838450" cy="752475"/>
            <a:chOff x="5105400" y="7000875"/>
            <a:chExt cx="2838450" cy="752475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80B3816-AB93-153E-C0FC-B70815455669}"/>
                </a:ext>
              </a:extLst>
            </p:cNvPr>
            <p:cNvSpPr txBox="1"/>
            <p:nvPr/>
          </p:nvSpPr>
          <p:spPr>
            <a:xfrm>
              <a:off x="5105400" y="7000875"/>
              <a:ext cx="2838450" cy="3619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8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任务建模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D38F9782-C665-32DF-6CA8-FA42AFDD4BAB}"/>
                </a:ext>
              </a:extLst>
            </p:cNvPr>
            <p:cNvSpPr txBox="1"/>
            <p:nvPr/>
          </p:nvSpPr>
          <p:spPr>
            <a:xfrm>
              <a:off x="5105400" y="7458075"/>
              <a:ext cx="2724150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状态 </a:t>
              </a: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 </a:t>
              </a: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行动</a:t>
              </a:r>
            </a:p>
          </p:txBody>
        </p:sp>
      </p:grpSp>
      <p:grpSp>
        <p:nvGrpSpPr>
          <p:cNvPr id="77" name="methods">
            <a:extLst>
              <a:ext uri="{FF2B5EF4-FFF2-40B4-BE49-F238E27FC236}">
                <a16:creationId xmlns:a16="http://schemas.microsoft.com/office/drawing/2014/main" id="{EE926F30-04DF-3800-F9D6-25EB375D2A9F}"/>
              </a:ext>
            </a:extLst>
          </p:cNvPr>
          <p:cNvGrpSpPr/>
          <p:nvPr/>
        </p:nvGrpSpPr>
        <p:grpSpPr>
          <a:xfrm>
            <a:off x="8324850" y="7000875"/>
            <a:ext cx="2952750" cy="752475"/>
            <a:chOff x="8324850" y="7000875"/>
            <a:chExt cx="2952750" cy="752475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CEB52AB-083F-84D1-6E6B-3D88009DAF43}"/>
                </a:ext>
              </a:extLst>
            </p:cNvPr>
            <p:cNvSpPr txBox="1"/>
            <p:nvPr/>
          </p:nvSpPr>
          <p:spPr>
            <a:xfrm>
              <a:off x="8324850" y="7000875"/>
              <a:ext cx="2857500" cy="3619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8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方法组合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87547F51-C75E-2AE0-9478-FA24FBD4DE5C}"/>
                </a:ext>
              </a:extLst>
            </p:cNvPr>
            <p:cNvSpPr txBox="1"/>
            <p:nvPr/>
          </p:nvSpPr>
          <p:spPr>
            <a:xfrm>
              <a:off x="8324850" y="7458075"/>
              <a:ext cx="2952750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VLA · </a:t>
              </a:r>
              <a:r>
                <a:rPr lang="zh-CN" altLang="en-US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力触觉 </a:t>
              </a: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世界模型</a:t>
              </a:r>
            </a:p>
          </p:txBody>
        </p:sp>
      </p:grpSp>
      <p:grpSp>
        <p:nvGrpSpPr>
          <p:cNvPr id="78" name="evaluation">
            <a:extLst>
              <a:ext uri="{FF2B5EF4-FFF2-40B4-BE49-F238E27FC236}">
                <a16:creationId xmlns:a16="http://schemas.microsoft.com/office/drawing/2014/main" id="{9CDEE0D3-CE15-0F87-AC2C-091499B8534C}"/>
              </a:ext>
            </a:extLst>
          </p:cNvPr>
          <p:cNvGrpSpPr/>
          <p:nvPr/>
        </p:nvGrpSpPr>
        <p:grpSpPr>
          <a:xfrm>
            <a:off x="11963400" y="7000875"/>
            <a:ext cx="2476500" cy="752475"/>
            <a:chOff x="11963400" y="7000875"/>
            <a:chExt cx="2476500" cy="752475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5500988-E73C-40D6-3E89-266BF69A01E0}"/>
                </a:ext>
              </a:extLst>
            </p:cNvPr>
            <p:cNvSpPr txBox="1"/>
            <p:nvPr/>
          </p:nvSpPr>
          <p:spPr>
            <a:xfrm>
              <a:off x="11963400" y="7000875"/>
              <a:ext cx="2476500" cy="3619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8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系统评测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D04C201-42E4-3D3D-9C48-138E2D259DC5}"/>
                </a:ext>
              </a:extLst>
            </p:cNvPr>
            <p:cNvSpPr txBox="1"/>
            <p:nvPr/>
          </p:nvSpPr>
          <p:spPr>
            <a:xfrm>
              <a:off x="11963400" y="7458075"/>
              <a:ext cx="2457450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zh-CN" altLang="en-US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对照 </a:t>
              </a: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泛化 </a:t>
              </a: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· </a:t>
              </a:r>
              <a:r>
                <a:rPr lang="zh-CN" altLang="en-US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运行成本</a:t>
              </a:r>
            </a:p>
          </p:txBody>
        </p:sp>
      </p:grpSp>
      <p:grpSp>
        <p:nvGrpSpPr>
          <p:cNvPr id="79" name="task-route">
            <a:extLst>
              <a:ext uri="{FF2B5EF4-FFF2-40B4-BE49-F238E27FC236}">
                <a16:creationId xmlns:a16="http://schemas.microsoft.com/office/drawing/2014/main" id="{713E3ABB-4238-27FB-1992-7575B6CB8147}"/>
              </a:ext>
            </a:extLst>
          </p:cNvPr>
          <p:cNvGrpSpPr/>
          <p:nvPr/>
        </p:nvGrpSpPr>
        <p:grpSpPr>
          <a:xfrm>
            <a:off x="7477125" y="7210425"/>
            <a:ext cx="4267200" cy="0"/>
            <a:chOff x="7477125" y="7210425"/>
            <a:chExt cx="4267200" cy="0"/>
          </a:xfrm>
        </p:grpSpPr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D543A271-0446-9BF7-78D7-445DC8CF91E6}"/>
                </a:ext>
              </a:extLst>
            </p:cNvPr>
            <p:cNvCxnSpPr/>
            <p:nvPr/>
          </p:nvCxnSpPr>
          <p:spPr>
            <a:xfrm>
              <a:off x="7477125" y="7210425"/>
              <a:ext cx="628650" cy="0"/>
            </a:xfrm>
            <a:prstGeom prst="straightConnector1">
              <a:avLst/>
            </a:prstGeom>
            <a:ln w="17145">
              <a:solidFill>
                <a:srgbClr val="B7CED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928B3F86-A216-6D01-2144-F60884E46333}"/>
                </a:ext>
              </a:extLst>
            </p:cNvPr>
            <p:cNvCxnSpPr/>
            <p:nvPr/>
          </p:nvCxnSpPr>
          <p:spPr>
            <a:xfrm>
              <a:off x="11125200" y="7210425"/>
              <a:ext cx="619125" cy="0"/>
            </a:xfrm>
            <a:prstGeom prst="straightConnector1">
              <a:avLst/>
            </a:prstGeom>
            <a:ln w="17145">
              <a:solidFill>
                <a:srgbClr val="B7CED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EB1B67B4-9663-D7AA-42FD-9A3CFF394DEF}"/>
              </a:ext>
            </a:extLst>
          </p:cNvPr>
          <p:cNvSpPr txBox="1"/>
          <p:nvPr/>
        </p:nvSpPr>
        <p:spPr>
          <a:xfrm>
            <a:off x="914400" y="7905750"/>
            <a:ext cx="13239750" cy="295275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zh-CN" altLang="en-US" sz="1425">
                <a:solidFill>
                  <a:srgbClr val="B7CE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任务优先入口：先读具身总览，再按问题回查基础。</a:t>
            </a:r>
          </a:p>
        </p:txBody>
      </p:sp>
    </p:spTree>
    <p:extLst>
      <p:ext uri="{BB962C8B-B14F-4D97-AF65-F5344CB8AC3E}">
        <p14:creationId xmlns:p14="http://schemas.microsoft.com/office/powerpoint/2010/main" val="155171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hero-motif">
            <a:extLst>
              <a:ext uri="{FF2B5EF4-FFF2-40B4-BE49-F238E27FC236}">
                <a16:creationId xmlns:a16="http://schemas.microsoft.com/office/drawing/2014/main" id="{108CF01A-CB00-8677-7767-B6A5FD816B0E}"/>
              </a:ext>
            </a:extLst>
          </p:cNvPr>
          <p:cNvGrpSpPr/>
          <p:nvPr/>
        </p:nvGrpSpPr>
        <p:grpSpPr>
          <a:xfrm>
            <a:off x="10687050" y="857250"/>
            <a:ext cx="3829050" cy="762000"/>
            <a:chOff x="10687050" y="857250"/>
            <a:chExt cx="3829050" cy="762000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F66473AB-B996-500E-36E7-E769F6F386AE}"/>
                </a:ext>
              </a:extLst>
            </p:cNvPr>
            <p:cNvSpPr/>
            <p:nvPr/>
          </p:nvSpPr>
          <p:spPr>
            <a:xfrm>
              <a:off x="11153775" y="857250"/>
              <a:ext cx="247650" cy="247650"/>
            </a:xfrm>
            <a:prstGeom prst="ellipse">
              <a:avLst/>
            </a:prstGeom>
            <a:solidFill>
              <a:srgbClr val="197C7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0369579-870E-2AD4-31DA-9011AE7DB981}"/>
                </a:ext>
              </a:extLst>
            </p:cNvPr>
            <p:cNvSpPr txBox="1"/>
            <p:nvPr/>
          </p:nvSpPr>
          <p:spPr>
            <a:xfrm>
              <a:off x="10687050" y="1295400"/>
              <a:ext cx="11811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Model</a:t>
              </a:r>
              <a:endParaRPr lang="zh-CN" altLang="en-US" sz="1650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9E257DF-9A4D-C8CB-4487-0DC4AB11F663}"/>
                </a:ext>
              </a:extLst>
            </p:cNvPr>
            <p:cNvSpPr/>
            <p:nvPr/>
          </p:nvSpPr>
          <p:spPr>
            <a:xfrm>
              <a:off x="12477750" y="857250"/>
              <a:ext cx="247650" cy="247650"/>
            </a:xfrm>
            <a:prstGeom prst="ellipse">
              <a:avLst/>
            </a:prstGeom>
            <a:solidFill>
              <a:srgbClr val="356E9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EE8F9A-C9F9-A5B3-5EE5-3F0FB2AE9707}"/>
                </a:ext>
              </a:extLst>
            </p:cNvPr>
            <p:cNvSpPr txBox="1"/>
            <p:nvPr/>
          </p:nvSpPr>
          <p:spPr>
            <a:xfrm>
              <a:off x="12011025" y="1295400"/>
              <a:ext cx="11811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Decide</a:t>
              </a:r>
              <a:endParaRPr lang="zh-CN" altLang="en-US" sz="1650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E399EDE-2F97-0FB3-7BFE-DE04440008DC}"/>
                </a:ext>
              </a:extLst>
            </p:cNvPr>
            <p:cNvSpPr/>
            <p:nvPr/>
          </p:nvSpPr>
          <p:spPr>
            <a:xfrm>
              <a:off x="13801725" y="857250"/>
              <a:ext cx="247650" cy="247650"/>
            </a:xfrm>
            <a:prstGeom prst="ellipse">
              <a:avLst/>
            </a:prstGeom>
            <a:solidFill>
              <a:srgbClr val="C3663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9B3727D-BD70-DD44-6AFC-5B7B3137DF4C}"/>
                </a:ext>
              </a:extLst>
            </p:cNvPr>
            <p:cNvSpPr txBox="1"/>
            <p:nvPr/>
          </p:nvSpPr>
          <p:spPr>
            <a:xfrm>
              <a:off x="13335000" y="1295400"/>
              <a:ext cx="11811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Act</a:t>
              </a:r>
              <a:endParaRPr lang="zh-CN" altLang="en-US" sz="1650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AEF2472-8B52-9DD7-AC5E-559793059E0B}"/>
                </a:ext>
              </a:extLst>
            </p:cNvPr>
            <p:cNvCxnSpPr/>
            <p:nvPr/>
          </p:nvCxnSpPr>
          <p:spPr>
            <a:xfrm>
              <a:off x="11487150" y="981075"/>
              <a:ext cx="904875" cy="0"/>
            </a:xfrm>
            <a:prstGeom prst="straightConnector1">
              <a:avLst/>
            </a:prstGeom>
            <a:ln w="16192">
              <a:solidFill>
                <a:srgbClr val="52687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B53D5439-CB9A-20E3-3696-F21BF1B3E0B9}"/>
                </a:ext>
              </a:extLst>
            </p:cNvPr>
            <p:cNvCxnSpPr/>
            <p:nvPr/>
          </p:nvCxnSpPr>
          <p:spPr>
            <a:xfrm>
              <a:off x="12811125" y="981075"/>
              <a:ext cx="904875" cy="0"/>
            </a:xfrm>
            <a:prstGeom prst="straightConnector1">
              <a:avLst/>
            </a:prstGeom>
            <a:ln w="16192">
              <a:solidFill>
                <a:srgbClr val="52687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hero">
            <a:extLst>
              <a:ext uri="{FF2B5EF4-FFF2-40B4-BE49-F238E27FC236}">
                <a16:creationId xmlns:a16="http://schemas.microsoft.com/office/drawing/2014/main" id="{3C0EA889-EEBB-8D04-F4F7-9A8E23B12E26}"/>
              </a:ext>
            </a:extLst>
          </p:cNvPr>
          <p:cNvGrpSpPr/>
          <p:nvPr/>
        </p:nvGrpSpPr>
        <p:grpSpPr>
          <a:xfrm>
            <a:off x="609600" y="428625"/>
            <a:ext cx="14020800" cy="2105025"/>
            <a:chOff x="609600" y="428625"/>
            <a:chExt cx="14020800" cy="210502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3A8FD3E-55A4-581D-C012-27B7882B209A}"/>
                </a:ext>
              </a:extLst>
            </p:cNvPr>
            <p:cNvSpPr/>
            <p:nvPr/>
          </p:nvSpPr>
          <p:spPr>
            <a:xfrm>
              <a:off x="609600" y="495300"/>
              <a:ext cx="76200" cy="1152525"/>
            </a:xfrm>
            <a:prstGeom prst="rect">
              <a:avLst/>
            </a:prstGeom>
            <a:solidFill>
              <a:srgbClr val="197C7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B42CAB0-888E-A5A6-36E4-23388E2207F7}"/>
                </a:ext>
              </a:extLst>
            </p:cNvPr>
            <p:cNvSpPr txBox="1"/>
            <p:nvPr/>
          </p:nvSpPr>
          <p:spPr>
            <a:xfrm>
              <a:off x="876300" y="428625"/>
              <a:ext cx="9715500" cy="990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5100" b="1">
                  <a:solidFill>
                    <a:srgbClr val="142E3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Beyond Automation</a:t>
              </a:r>
              <a:endParaRPr lang="zh-CN" altLang="en-US" sz="5100" b="1">
                <a:solidFill>
                  <a:srgbClr val="142E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A259D45-93DE-DB49-3E79-A016D9B5CB64}"/>
                </a:ext>
              </a:extLst>
            </p:cNvPr>
            <p:cNvSpPr txBox="1"/>
            <p:nvPr/>
          </p:nvSpPr>
          <p:spPr>
            <a:xfrm>
              <a:off x="914400" y="1457325"/>
              <a:ext cx="9906000" cy="4476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32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Learning notes on embodied intelligence</a:t>
              </a:r>
              <a:endParaRPr lang="zh-CN" altLang="en-US" sz="2325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6E225C0-38B2-3C55-BE9F-2B8187DF7D32}"/>
                </a:ext>
              </a:extLst>
            </p:cNvPr>
            <p:cNvSpPr txBox="1"/>
            <p:nvPr/>
          </p:nvSpPr>
          <p:spPr>
            <a:xfrm>
              <a:off x="609600" y="2133600"/>
              <a:ext cx="13430250" cy="3333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Suggested reading order · enter at your current level</a:t>
              </a:r>
              <a:endParaRPr lang="zh-CN" altLang="en-US" sz="1650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95C6BEA-1D4A-D41A-5A42-A9B05C7C31FF}"/>
                </a:ext>
              </a:extLst>
            </p:cNvPr>
            <p:cNvCxnSpPr/>
            <p:nvPr/>
          </p:nvCxnSpPr>
          <p:spPr>
            <a:xfrm>
              <a:off x="609600" y="2533650"/>
              <a:ext cx="14020800" cy="0"/>
            </a:xfrm>
            <a:prstGeom prst="straightConnector1">
              <a:avLst/>
            </a:prstGeom>
            <a:ln w="11430">
              <a:solidFill>
                <a:srgbClr val="CCD7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deep_learning">
            <a:extLst>
              <a:ext uri="{FF2B5EF4-FFF2-40B4-BE49-F238E27FC236}">
                <a16:creationId xmlns:a16="http://schemas.microsoft.com/office/drawing/2014/main" id="{0EB70CD9-65A8-AF53-C7BA-E5013A07728D}"/>
              </a:ext>
            </a:extLst>
          </p:cNvPr>
          <p:cNvGrpSpPr/>
          <p:nvPr/>
        </p:nvGrpSpPr>
        <p:grpSpPr>
          <a:xfrm>
            <a:off x="609600" y="2781300"/>
            <a:ext cx="3714750" cy="2828925"/>
            <a:chOff x="609600" y="2781300"/>
            <a:chExt cx="3714750" cy="282892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9673D3B-51FE-94CE-B9B9-BA4EE60FEA30}"/>
                </a:ext>
              </a:extLst>
            </p:cNvPr>
            <p:cNvSpPr txBox="1"/>
            <p:nvPr/>
          </p:nvSpPr>
          <p:spPr>
            <a:xfrm>
              <a:off x="609600" y="2781300"/>
              <a:ext cx="495300" cy="3524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025" b="1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</a:t>
              </a:r>
              <a:endParaRPr lang="zh-CN" altLang="en-US" sz="2025" b="1">
                <a:solidFill>
                  <a:srgbClr val="197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09EFB45-FEFA-0388-3D73-FD27A574787F}"/>
                </a:ext>
              </a:extLst>
            </p:cNvPr>
            <p:cNvSpPr txBox="1"/>
            <p:nvPr/>
          </p:nvSpPr>
          <p:spPr>
            <a:xfrm>
              <a:off x="1162050" y="2781300"/>
              <a:ext cx="3162300" cy="4000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100" b="1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Data modeling</a:t>
              </a:r>
              <a:endParaRPr lang="zh-CN" altLang="en-US" sz="2100" b="1">
                <a:solidFill>
                  <a:srgbClr val="197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CB177C9-9B3E-A07C-DC46-B05B8D3FC895}"/>
                </a:ext>
              </a:extLst>
            </p:cNvPr>
            <p:cNvSpPr txBox="1"/>
            <p:nvPr/>
          </p:nvSpPr>
          <p:spPr>
            <a:xfrm>
              <a:off x="1162050" y="3200400"/>
              <a:ext cx="316230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deep_learning</a:t>
              </a:r>
              <a:endParaRPr lang="zh-CN" altLang="en-US" sz="1575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31DF294F-BC1B-DF97-C30D-CAFF07F66EF4}"/>
                </a:ext>
              </a:extLst>
            </p:cNvPr>
            <p:cNvCxnSpPr/>
            <p:nvPr/>
          </p:nvCxnSpPr>
          <p:spPr>
            <a:xfrm>
              <a:off x="952500" y="3905250"/>
              <a:ext cx="0" cy="952500"/>
            </a:xfrm>
            <a:prstGeom prst="straightConnector1">
              <a:avLst/>
            </a:prstGeom>
            <a:ln w="24765">
              <a:solidFill>
                <a:srgbClr val="197C7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24B9A1E2-A0E4-513D-319D-157F2899E679}"/>
                </a:ext>
              </a:extLst>
            </p:cNvPr>
            <p:cNvSpPr/>
            <p:nvPr/>
          </p:nvSpPr>
          <p:spPr>
            <a:xfrm>
              <a:off x="885825" y="3838575"/>
              <a:ext cx="133350" cy="133350"/>
            </a:xfrm>
            <a:prstGeom prst="ellipse">
              <a:avLst/>
            </a:prstGeom>
            <a:solidFill>
              <a:srgbClr val="197C7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AB429F93-153A-C795-A382-8E65EE2401B1}"/>
                </a:ext>
              </a:extLst>
            </p:cNvPr>
            <p:cNvSpPr/>
            <p:nvPr/>
          </p:nvSpPr>
          <p:spPr>
            <a:xfrm>
              <a:off x="885825" y="4981575"/>
              <a:ext cx="133350" cy="133350"/>
            </a:xfrm>
            <a:prstGeom prst="ellipse">
              <a:avLst/>
            </a:prstGeom>
            <a:solidFill>
              <a:srgbClr val="197C7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94F62F1-DCCA-437A-5502-E131DB519992}"/>
                </a:ext>
              </a:extLst>
            </p:cNvPr>
            <p:cNvSpPr txBox="1"/>
            <p:nvPr/>
          </p:nvSpPr>
          <p:spPr>
            <a:xfrm>
              <a:off x="1238250" y="3648075"/>
              <a:ext cx="2286000" cy="4667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625" b="1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KNN</a:t>
              </a:r>
              <a:endParaRPr lang="zh-CN" altLang="en-US" sz="2625" b="1">
                <a:solidFill>
                  <a:srgbClr val="197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FAB367A-A442-8EB2-3407-86A23618B519}"/>
                </a:ext>
              </a:extLst>
            </p:cNvPr>
            <p:cNvSpPr txBox="1"/>
            <p:nvPr/>
          </p:nvSpPr>
          <p:spPr>
            <a:xfrm>
              <a:off x="1238250" y="4133850"/>
              <a:ext cx="27813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Distance · Neighbors</a:t>
              </a:r>
              <a:endParaRPr lang="zh-CN" altLang="en-US" sz="1650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B8AAF2C-3478-1E3C-1BCB-AAB130123098}"/>
                </a:ext>
              </a:extLst>
            </p:cNvPr>
            <p:cNvSpPr txBox="1"/>
            <p:nvPr/>
          </p:nvSpPr>
          <p:spPr>
            <a:xfrm>
              <a:off x="1238250" y="4791075"/>
              <a:ext cx="2152650" cy="457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625" b="1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MLP</a:t>
              </a:r>
              <a:endParaRPr lang="zh-CN" altLang="en-US" sz="2625" b="1">
                <a:solidFill>
                  <a:srgbClr val="197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D091778-B2E0-840A-0A46-DFAA952ACE6E}"/>
                </a:ext>
              </a:extLst>
            </p:cNvPr>
            <p:cNvSpPr txBox="1"/>
            <p:nvPr/>
          </p:nvSpPr>
          <p:spPr>
            <a:xfrm>
              <a:off x="1238250" y="5286375"/>
              <a:ext cx="2857500" cy="3238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Backprop · Gradients</a:t>
              </a:r>
              <a:endParaRPr lang="zh-CN" altLang="en-US" sz="1650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2" name="foundation-to-rl">
            <a:extLst>
              <a:ext uri="{FF2B5EF4-FFF2-40B4-BE49-F238E27FC236}">
                <a16:creationId xmlns:a16="http://schemas.microsoft.com/office/drawing/2014/main" id="{60D11D94-DBE1-44B4-69FA-72B7D4CA2839}"/>
              </a:ext>
            </a:extLst>
          </p:cNvPr>
          <p:cNvGrpSpPr/>
          <p:nvPr/>
        </p:nvGrpSpPr>
        <p:grpSpPr>
          <a:xfrm>
            <a:off x="3467100" y="3562350"/>
            <a:ext cx="2105025" cy="1485900"/>
            <a:chOff x="3467100" y="3562350"/>
            <a:chExt cx="2105025" cy="1485900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A570EFC9-AA52-9194-4072-E9FF1C432B83}"/>
                </a:ext>
              </a:extLst>
            </p:cNvPr>
            <p:cNvCxnSpPr/>
            <p:nvPr/>
          </p:nvCxnSpPr>
          <p:spPr>
            <a:xfrm>
              <a:off x="3467100" y="5048250"/>
              <a:ext cx="933450" cy="0"/>
            </a:xfrm>
            <a:prstGeom prst="straightConnector1">
              <a:avLst/>
            </a:prstGeom>
            <a:ln w="24765">
              <a:solidFill>
                <a:srgbClr val="197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F189399B-3D4A-39EC-EECE-E6D764E6A436}"/>
                </a:ext>
              </a:extLst>
            </p:cNvPr>
            <p:cNvCxnSpPr/>
            <p:nvPr/>
          </p:nvCxnSpPr>
          <p:spPr>
            <a:xfrm flipV="1">
              <a:off x="4400550" y="3905250"/>
              <a:ext cx="0" cy="1143000"/>
            </a:xfrm>
            <a:prstGeom prst="straightConnector1">
              <a:avLst/>
            </a:prstGeom>
            <a:ln w="24765">
              <a:solidFill>
                <a:srgbClr val="197C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23C241D0-C23D-AA19-AF52-6B4608964FA1}"/>
                </a:ext>
              </a:extLst>
            </p:cNvPr>
            <p:cNvCxnSpPr/>
            <p:nvPr/>
          </p:nvCxnSpPr>
          <p:spPr>
            <a:xfrm>
              <a:off x="4400550" y="3905250"/>
              <a:ext cx="1104900" cy="0"/>
            </a:xfrm>
            <a:prstGeom prst="straightConnector1">
              <a:avLst/>
            </a:prstGeom>
            <a:ln w="24765">
              <a:solidFill>
                <a:srgbClr val="197C7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4552EFB-9AE1-142A-1897-2E33DFADC30C}"/>
                </a:ext>
              </a:extLst>
            </p:cNvPr>
            <p:cNvSpPr txBox="1"/>
            <p:nvPr/>
          </p:nvSpPr>
          <p:spPr>
            <a:xfrm>
              <a:off x="3905250" y="3562350"/>
              <a:ext cx="1666875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350">
                  <a:solidFill>
                    <a:srgbClr val="197C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Decision making</a:t>
              </a:r>
              <a:endParaRPr lang="zh-CN" altLang="en-US" sz="1350">
                <a:solidFill>
                  <a:srgbClr val="197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0" name="rl-xihu">
            <a:extLst>
              <a:ext uri="{FF2B5EF4-FFF2-40B4-BE49-F238E27FC236}">
                <a16:creationId xmlns:a16="http://schemas.microsoft.com/office/drawing/2014/main" id="{4D5B8F37-E750-1F37-7A86-CD743D37B7C2}"/>
              </a:ext>
            </a:extLst>
          </p:cNvPr>
          <p:cNvGrpSpPr/>
          <p:nvPr/>
        </p:nvGrpSpPr>
        <p:grpSpPr>
          <a:xfrm>
            <a:off x="5048250" y="2781300"/>
            <a:ext cx="5905500" cy="3524250"/>
            <a:chOff x="5048250" y="2781300"/>
            <a:chExt cx="5905500" cy="3524250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55ECB79-07F9-DF2E-89C8-C43E56AC7A76}"/>
                </a:ext>
              </a:extLst>
            </p:cNvPr>
            <p:cNvSpPr txBox="1"/>
            <p:nvPr/>
          </p:nvSpPr>
          <p:spPr>
            <a:xfrm>
              <a:off x="5048250" y="2781300"/>
              <a:ext cx="495300" cy="3524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025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</a:t>
              </a:r>
              <a:endParaRPr lang="zh-CN" altLang="en-US" sz="2025" b="1">
                <a:solidFill>
                  <a:srgbClr val="356E9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5FF539C-247D-C141-D760-5442F13BDF4A}"/>
                </a:ext>
              </a:extLst>
            </p:cNvPr>
            <p:cNvSpPr txBox="1"/>
            <p:nvPr/>
          </p:nvSpPr>
          <p:spPr>
            <a:xfrm>
              <a:off x="5600700" y="2781300"/>
              <a:ext cx="5353050" cy="4000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100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Reinforcement learning</a:t>
              </a:r>
              <a:endParaRPr lang="zh-CN" altLang="en-US" sz="2100" b="1">
                <a:solidFill>
                  <a:srgbClr val="356E9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A0F2D01-8A10-AE0F-C60A-2CB307832066}"/>
                </a:ext>
              </a:extLst>
            </p:cNvPr>
            <p:cNvSpPr txBox="1"/>
            <p:nvPr/>
          </p:nvSpPr>
          <p:spPr>
            <a:xfrm>
              <a:off x="5600700" y="3200400"/>
              <a:ext cx="535305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rl-xihu</a:t>
              </a:r>
              <a:endParaRPr lang="zh-CN" altLang="en-US" sz="1575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0C552906-8EEA-BA0D-C9E3-DA8CF6EAA5C1}"/>
                </a:ext>
              </a:extLst>
            </p:cNvPr>
            <p:cNvSpPr/>
            <p:nvPr/>
          </p:nvSpPr>
          <p:spPr>
            <a:xfrm>
              <a:off x="5553075" y="3838575"/>
              <a:ext cx="133350" cy="133350"/>
            </a:xfrm>
            <a:prstGeom prst="ellipse">
              <a:avLst/>
            </a:prstGeom>
            <a:solidFill>
              <a:srgbClr val="356E9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31286FCB-8A0A-B515-54DC-0461351D5F95}"/>
                </a:ext>
              </a:extLst>
            </p:cNvPr>
            <p:cNvSpPr/>
            <p:nvPr/>
          </p:nvSpPr>
          <p:spPr>
            <a:xfrm>
              <a:off x="5553075" y="4791075"/>
              <a:ext cx="133350" cy="133350"/>
            </a:xfrm>
            <a:prstGeom prst="ellipse">
              <a:avLst/>
            </a:prstGeom>
            <a:solidFill>
              <a:srgbClr val="356E9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CC3F7487-93D6-F38B-C2CD-F0EE4C231233}"/>
                </a:ext>
              </a:extLst>
            </p:cNvPr>
            <p:cNvSpPr/>
            <p:nvPr/>
          </p:nvSpPr>
          <p:spPr>
            <a:xfrm>
              <a:off x="5553075" y="5743575"/>
              <a:ext cx="133350" cy="133350"/>
            </a:xfrm>
            <a:prstGeom prst="ellipse">
              <a:avLst/>
            </a:prstGeom>
            <a:solidFill>
              <a:srgbClr val="356E9F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0622F6FD-55D2-19BC-B80A-792B3F163FFE}"/>
                </a:ext>
              </a:extLst>
            </p:cNvPr>
            <p:cNvCxnSpPr/>
            <p:nvPr/>
          </p:nvCxnSpPr>
          <p:spPr>
            <a:xfrm>
              <a:off x="5619750" y="4019550"/>
              <a:ext cx="0" cy="647700"/>
            </a:xfrm>
            <a:prstGeom prst="straightConnector1">
              <a:avLst/>
            </a:prstGeom>
            <a:ln w="24765">
              <a:solidFill>
                <a:srgbClr val="356E9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56C2D018-5A2F-2AFD-7846-99A35E576019}"/>
                </a:ext>
              </a:extLst>
            </p:cNvPr>
            <p:cNvCxnSpPr/>
            <p:nvPr/>
          </p:nvCxnSpPr>
          <p:spPr>
            <a:xfrm>
              <a:off x="5619750" y="4972050"/>
              <a:ext cx="0" cy="647700"/>
            </a:xfrm>
            <a:prstGeom prst="straightConnector1">
              <a:avLst/>
            </a:prstGeom>
            <a:ln w="24765">
              <a:solidFill>
                <a:srgbClr val="356E9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CBCC3A3-8417-E42E-B2BF-7BB0E971176A}"/>
                </a:ext>
              </a:extLst>
            </p:cNvPr>
            <p:cNvSpPr txBox="1"/>
            <p:nvPr/>
          </p:nvSpPr>
          <p:spPr>
            <a:xfrm>
              <a:off x="5953125" y="3648075"/>
              <a:ext cx="4619625" cy="4286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250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Bellman · Value iteration</a:t>
              </a:r>
              <a:endParaRPr lang="zh-CN" altLang="en-US" sz="2250" b="1">
                <a:solidFill>
                  <a:srgbClr val="356E9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135C934-0B96-D26A-F849-531B9D73DDB7}"/>
                </a:ext>
              </a:extLst>
            </p:cNvPr>
            <p:cNvSpPr txBox="1"/>
            <p:nvPr/>
          </p:nvSpPr>
          <p:spPr>
            <a:xfrm>
              <a:off x="5953125" y="4095750"/>
              <a:ext cx="4524375" cy="3143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Define value through return</a:t>
              </a:r>
              <a:endParaRPr lang="zh-CN" altLang="en-US" sz="1650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BF85AE0-D0CA-2613-6C45-9827D1D526C7}"/>
                </a:ext>
              </a:extLst>
            </p:cNvPr>
            <p:cNvSpPr txBox="1"/>
            <p:nvPr/>
          </p:nvSpPr>
          <p:spPr>
            <a:xfrm>
              <a:off x="5953125" y="4600575"/>
              <a:ext cx="4429125" cy="4286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400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MC / TD / DQN</a:t>
              </a:r>
              <a:endParaRPr lang="zh-CN" altLang="en-US" sz="2400" b="1">
                <a:solidFill>
                  <a:srgbClr val="356E9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72D6FB9-BC54-D688-2E05-D7977630CEFC}"/>
                </a:ext>
              </a:extLst>
            </p:cNvPr>
            <p:cNvSpPr txBox="1"/>
            <p:nvPr/>
          </p:nvSpPr>
          <p:spPr>
            <a:xfrm>
              <a:off x="5953125" y="5048250"/>
              <a:ext cx="4476750" cy="3143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65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Sample estimates · Approximation</a:t>
              </a:r>
              <a:endParaRPr lang="zh-CN" altLang="en-US" sz="1650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25E5EEB-5E30-6EE3-B9A1-F0F88CA6CEA4}"/>
                </a:ext>
              </a:extLst>
            </p:cNvPr>
            <p:cNvSpPr txBox="1"/>
            <p:nvPr/>
          </p:nvSpPr>
          <p:spPr>
            <a:xfrm>
              <a:off x="5953125" y="5553075"/>
              <a:ext cx="4476750" cy="4286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175" b="1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Policy gradient / Actor–Critic</a:t>
              </a:r>
              <a:endParaRPr lang="zh-CN" altLang="en-US" sz="2175" b="1">
                <a:solidFill>
                  <a:srgbClr val="356E9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47FEFF4-93E3-066E-4B35-B5E89E15050B}"/>
                </a:ext>
              </a:extLst>
            </p:cNvPr>
            <p:cNvSpPr txBox="1"/>
            <p:nvPr/>
          </p:nvSpPr>
          <p:spPr>
            <a:xfrm>
              <a:off x="5953125" y="5991225"/>
              <a:ext cx="4476750" cy="3143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Use value estimates to improve policies</a:t>
              </a:r>
              <a:endParaRPr lang="zh-CN" altLang="en-US" sz="1575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3" name="trpo-branch">
            <a:extLst>
              <a:ext uri="{FF2B5EF4-FFF2-40B4-BE49-F238E27FC236}">
                <a16:creationId xmlns:a16="http://schemas.microsoft.com/office/drawing/2014/main" id="{EA59B424-410D-F906-977A-C9963D66B0D4}"/>
              </a:ext>
            </a:extLst>
          </p:cNvPr>
          <p:cNvGrpSpPr/>
          <p:nvPr/>
        </p:nvGrpSpPr>
        <p:grpSpPr>
          <a:xfrm>
            <a:off x="10534650" y="4857750"/>
            <a:ext cx="495300" cy="952500"/>
            <a:chOff x="10534650" y="4857750"/>
            <a:chExt cx="495300" cy="952500"/>
          </a:xfrm>
        </p:grpSpPr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662FBC4D-3DA5-334F-BC1E-4610207EF94C}"/>
                </a:ext>
              </a:extLst>
            </p:cNvPr>
            <p:cNvCxnSpPr/>
            <p:nvPr/>
          </p:nvCxnSpPr>
          <p:spPr>
            <a:xfrm>
              <a:off x="10534650" y="5810250"/>
              <a:ext cx="381000" cy="0"/>
            </a:xfrm>
            <a:prstGeom prst="straightConnector1">
              <a:avLst/>
            </a:prstGeom>
            <a:ln w="24765">
              <a:solidFill>
                <a:srgbClr val="C36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0EEC5F3F-CB90-9C33-BD5A-3FB0DF59B460}"/>
                </a:ext>
              </a:extLst>
            </p:cNvPr>
            <p:cNvCxnSpPr/>
            <p:nvPr/>
          </p:nvCxnSpPr>
          <p:spPr>
            <a:xfrm flipV="1">
              <a:off x="10915650" y="4857750"/>
              <a:ext cx="0" cy="952500"/>
            </a:xfrm>
            <a:prstGeom prst="straightConnector1">
              <a:avLst/>
            </a:prstGeom>
            <a:ln w="24765">
              <a:solidFill>
                <a:srgbClr val="C366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E9B81FEE-8D7C-FA4A-ADA4-227FE24B733F}"/>
                </a:ext>
              </a:extLst>
            </p:cNvPr>
            <p:cNvCxnSpPr/>
            <p:nvPr/>
          </p:nvCxnSpPr>
          <p:spPr>
            <a:xfrm>
              <a:off x="10915650" y="4857750"/>
              <a:ext cx="114300" cy="0"/>
            </a:xfrm>
            <a:prstGeom prst="straightConnector1">
              <a:avLst/>
            </a:prstGeom>
            <a:ln w="24765">
              <a:solidFill>
                <a:srgbClr val="C36635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rl-algorithms">
            <a:extLst>
              <a:ext uri="{FF2B5EF4-FFF2-40B4-BE49-F238E27FC236}">
                <a16:creationId xmlns:a16="http://schemas.microsoft.com/office/drawing/2014/main" id="{EDEBA230-4556-B16E-72D5-9BC25186FE9E}"/>
              </a:ext>
            </a:extLst>
          </p:cNvPr>
          <p:cNvGrpSpPr/>
          <p:nvPr/>
        </p:nvGrpSpPr>
        <p:grpSpPr>
          <a:xfrm>
            <a:off x="11077575" y="2781300"/>
            <a:ext cx="3686175" cy="3095625"/>
            <a:chOff x="11077575" y="2781300"/>
            <a:chExt cx="3686175" cy="3095625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F2B3F1C-95B6-69DC-B431-D2CFE744CEA3}"/>
                </a:ext>
              </a:extLst>
            </p:cNvPr>
            <p:cNvSpPr txBox="1"/>
            <p:nvPr/>
          </p:nvSpPr>
          <p:spPr>
            <a:xfrm>
              <a:off x="11144250" y="2781300"/>
              <a:ext cx="495300" cy="3524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025" b="1">
                  <a:solidFill>
                    <a:srgbClr val="C3663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03</a:t>
              </a:r>
              <a:endParaRPr lang="zh-CN" altLang="en-US" sz="2025" b="1">
                <a:solidFill>
                  <a:srgbClr val="C36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6CF670F-D161-A6A3-EF06-80F8C16885E3}"/>
                </a:ext>
              </a:extLst>
            </p:cNvPr>
            <p:cNvSpPr txBox="1"/>
            <p:nvPr/>
          </p:nvSpPr>
          <p:spPr>
            <a:xfrm>
              <a:off x="11696700" y="2781300"/>
              <a:ext cx="3067050" cy="4000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2100" b="1">
                  <a:solidFill>
                    <a:srgbClr val="C3663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Policy optimization</a:t>
              </a:r>
              <a:endParaRPr lang="zh-CN" altLang="en-US" sz="2100" b="1">
                <a:solidFill>
                  <a:srgbClr val="C36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D3C1C83-EA35-9F0D-387F-986F0E7A9D9B}"/>
                </a:ext>
              </a:extLst>
            </p:cNvPr>
            <p:cNvSpPr txBox="1"/>
            <p:nvPr/>
          </p:nvSpPr>
          <p:spPr>
            <a:xfrm>
              <a:off x="11696700" y="3200400"/>
              <a:ext cx="306705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rl-algorithms</a:t>
              </a:r>
              <a:endParaRPr lang="zh-CN" altLang="en-US" sz="1575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DD1E913-8780-2229-7ACC-0CCC63E49102}"/>
                </a:ext>
              </a:extLst>
            </p:cNvPr>
            <p:cNvSpPr/>
            <p:nvPr/>
          </p:nvSpPr>
          <p:spPr>
            <a:xfrm>
              <a:off x="11077575" y="4791075"/>
              <a:ext cx="133350" cy="133350"/>
            </a:xfrm>
            <a:prstGeom prst="ellipse">
              <a:avLst/>
            </a:prstGeom>
            <a:solidFill>
              <a:srgbClr val="C36635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AA86DF72-F307-E69C-1C00-6167F9B8ED7D}"/>
                </a:ext>
              </a:extLst>
            </p:cNvPr>
            <p:cNvSpPr txBox="1"/>
            <p:nvPr/>
          </p:nvSpPr>
          <p:spPr>
            <a:xfrm>
              <a:off x="11477625" y="4572000"/>
              <a:ext cx="3048000" cy="54292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3225" b="1">
                  <a:solidFill>
                    <a:srgbClr val="C36635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TRPO</a:t>
              </a:r>
              <a:endParaRPr lang="zh-CN" altLang="en-US" sz="3225" b="1">
                <a:solidFill>
                  <a:srgbClr val="C36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C35DED0-AAA3-78C9-1166-9E725D406010}"/>
                </a:ext>
              </a:extLst>
            </p:cNvPr>
            <p:cNvSpPr txBox="1"/>
            <p:nvPr/>
          </p:nvSpPr>
          <p:spPr>
            <a:xfrm>
              <a:off x="11477625" y="5200650"/>
              <a:ext cx="3095625" cy="3333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75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KL constraint · Natural gradient</a:t>
              </a:r>
              <a:endParaRPr lang="zh-CN" altLang="en-US" sz="1575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760148E-6050-598C-3A4B-3283867089B1}"/>
                </a:ext>
              </a:extLst>
            </p:cNvPr>
            <p:cNvSpPr txBox="1"/>
            <p:nvPr/>
          </p:nvSpPr>
          <p:spPr>
            <a:xfrm>
              <a:off x="11477625" y="5543550"/>
              <a:ext cx="3095625" cy="3333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00">
                  <a:solidFill>
                    <a:srgbClr val="52687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Conjugate gradient · Line search</a:t>
              </a:r>
              <a:endParaRPr lang="zh-CN" altLang="en-US" sz="1500">
                <a:solidFill>
                  <a:srgbClr val="5268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734A3914-9BD1-F8B9-8E02-6FB2743B5C0B}"/>
              </a:ext>
            </a:extLst>
          </p:cNvPr>
          <p:cNvSpPr/>
          <p:nvPr/>
        </p:nvSpPr>
        <p:spPr>
          <a:xfrm>
            <a:off x="609600" y="6791325"/>
            <a:ext cx="14020800" cy="1504950"/>
          </a:xfrm>
          <a:prstGeom prst="roundRect">
            <a:avLst>
              <a:gd name="adj" fmla="val 5000"/>
            </a:avLst>
          </a:prstGeom>
          <a:solidFill>
            <a:srgbClr val="142E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4" name="to-embodied">
            <a:extLst>
              <a:ext uri="{FF2B5EF4-FFF2-40B4-BE49-F238E27FC236}">
                <a16:creationId xmlns:a16="http://schemas.microsoft.com/office/drawing/2014/main" id="{83DF4F0A-2825-0A6B-7600-CE92EB76F0F0}"/>
              </a:ext>
            </a:extLst>
          </p:cNvPr>
          <p:cNvGrpSpPr/>
          <p:nvPr/>
        </p:nvGrpSpPr>
        <p:grpSpPr>
          <a:xfrm>
            <a:off x="8001000" y="6381750"/>
            <a:ext cx="6562725" cy="314325"/>
            <a:chOff x="8001000" y="6381750"/>
            <a:chExt cx="6562725" cy="314325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09594566-9C77-E6A6-923E-657DCC91FE00}"/>
                </a:ext>
              </a:extLst>
            </p:cNvPr>
            <p:cNvCxnSpPr/>
            <p:nvPr/>
          </p:nvCxnSpPr>
          <p:spPr>
            <a:xfrm>
              <a:off x="8001000" y="6381750"/>
              <a:ext cx="0" cy="295275"/>
            </a:xfrm>
            <a:prstGeom prst="straightConnector1">
              <a:avLst/>
            </a:prstGeom>
            <a:ln w="24765">
              <a:solidFill>
                <a:srgbClr val="356E9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AC2A2E68-7D07-4900-14F3-E2EEA106AE27}"/>
                </a:ext>
              </a:extLst>
            </p:cNvPr>
            <p:cNvSpPr txBox="1"/>
            <p:nvPr/>
          </p:nvSpPr>
          <p:spPr>
            <a:xfrm>
              <a:off x="8229600" y="6400800"/>
              <a:ext cx="6334125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500">
                  <a:solidFill>
                    <a:srgbClr val="356E9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Connect learning to robot tasks</a:t>
              </a:r>
              <a:endParaRPr lang="zh-CN" altLang="en-US" sz="1500">
                <a:solidFill>
                  <a:srgbClr val="356E9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5" name="embodied-title">
            <a:extLst>
              <a:ext uri="{FF2B5EF4-FFF2-40B4-BE49-F238E27FC236}">
                <a16:creationId xmlns:a16="http://schemas.microsoft.com/office/drawing/2014/main" id="{56E85EFA-C62B-8486-9A0A-C28630C6A53D}"/>
              </a:ext>
            </a:extLst>
          </p:cNvPr>
          <p:cNvGrpSpPr/>
          <p:nvPr/>
        </p:nvGrpSpPr>
        <p:grpSpPr>
          <a:xfrm>
            <a:off x="914400" y="7000875"/>
            <a:ext cx="3962400" cy="771525"/>
            <a:chOff x="914400" y="7000875"/>
            <a:chExt cx="3962400" cy="771525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9C06362E-76E0-1274-29C2-A87AAC87FA86}"/>
                </a:ext>
              </a:extLst>
            </p:cNvPr>
            <p:cNvSpPr txBox="1"/>
            <p:nvPr/>
          </p:nvSpPr>
          <p:spPr>
            <a:xfrm>
              <a:off x="914400" y="7000875"/>
              <a:ext cx="3962400" cy="4000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950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04 Embodied intelligence</a:t>
              </a:r>
              <a:endParaRPr lang="zh-CN" altLang="en-US" sz="19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5213B58F-3191-6048-A0AB-478DED13E099}"/>
                </a:ext>
              </a:extLst>
            </p:cNvPr>
            <p:cNvSpPr txBox="1"/>
            <p:nvPr/>
          </p:nvSpPr>
          <p:spPr>
            <a:xfrm>
              <a:off x="914400" y="7467600"/>
              <a:ext cx="3905250" cy="3048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thought_on_embodied_robot</a:t>
              </a:r>
              <a:endParaRPr lang="zh-CN" altLang="en-US" sz="1425">
                <a:solidFill>
                  <a:srgbClr val="B7CE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6" name="task">
            <a:extLst>
              <a:ext uri="{FF2B5EF4-FFF2-40B4-BE49-F238E27FC236}">
                <a16:creationId xmlns:a16="http://schemas.microsoft.com/office/drawing/2014/main" id="{403C6815-A9F2-AA05-C846-64F2F8B0AAE5}"/>
              </a:ext>
            </a:extLst>
          </p:cNvPr>
          <p:cNvGrpSpPr/>
          <p:nvPr/>
        </p:nvGrpSpPr>
        <p:grpSpPr>
          <a:xfrm>
            <a:off x="5105400" y="7000875"/>
            <a:ext cx="2838450" cy="752475"/>
            <a:chOff x="5105400" y="7000875"/>
            <a:chExt cx="2838450" cy="752475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CFB20473-EE7E-61A1-35A4-CF2E531E3253}"/>
                </a:ext>
              </a:extLst>
            </p:cNvPr>
            <p:cNvSpPr txBox="1"/>
            <p:nvPr/>
          </p:nvSpPr>
          <p:spPr>
            <a:xfrm>
              <a:off x="5105400" y="7000875"/>
              <a:ext cx="2838450" cy="3619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8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Task modeling</a:t>
              </a:r>
              <a:endParaRPr lang="zh-CN" altLang="en-US" sz="18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726DA179-D3F4-4376-6C18-8FA25934B803}"/>
                </a:ext>
              </a:extLst>
            </p:cNvPr>
            <p:cNvSpPr txBox="1"/>
            <p:nvPr/>
          </p:nvSpPr>
          <p:spPr>
            <a:xfrm>
              <a:off x="5105400" y="7458075"/>
              <a:ext cx="2724150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State · Information · Action</a:t>
              </a:r>
              <a:endParaRPr lang="zh-CN" altLang="en-US" sz="1425">
                <a:solidFill>
                  <a:srgbClr val="B7CE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7" name="methods">
            <a:extLst>
              <a:ext uri="{FF2B5EF4-FFF2-40B4-BE49-F238E27FC236}">
                <a16:creationId xmlns:a16="http://schemas.microsoft.com/office/drawing/2014/main" id="{47D54E91-B017-6221-286D-CE9F2BD688BD}"/>
              </a:ext>
            </a:extLst>
          </p:cNvPr>
          <p:cNvGrpSpPr/>
          <p:nvPr/>
        </p:nvGrpSpPr>
        <p:grpSpPr>
          <a:xfrm>
            <a:off x="8324850" y="7000875"/>
            <a:ext cx="2952750" cy="752475"/>
            <a:chOff x="8324850" y="7000875"/>
            <a:chExt cx="2952750" cy="752475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4312D57-27F0-0CC2-892F-EB2E17283EDD}"/>
                </a:ext>
              </a:extLst>
            </p:cNvPr>
            <p:cNvSpPr txBox="1"/>
            <p:nvPr/>
          </p:nvSpPr>
          <p:spPr>
            <a:xfrm>
              <a:off x="8324850" y="7000875"/>
              <a:ext cx="2857500" cy="3619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8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Combine methods</a:t>
              </a:r>
              <a:endParaRPr lang="zh-CN" altLang="en-US" sz="18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5BCB6AB8-BB28-D258-A1DB-726C813E25B2}"/>
                </a:ext>
              </a:extLst>
            </p:cNvPr>
            <p:cNvSpPr txBox="1"/>
            <p:nvPr/>
          </p:nvSpPr>
          <p:spPr>
            <a:xfrm>
              <a:off x="8324850" y="7458075"/>
              <a:ext cx="2952750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VLA · Touch · World models</a:t>
              </a:r>
              <a:endParaRPr lang="zh-CN" altLang="en-US" sz="1425">
                <a:solidFill>
                  <a:srgbClr val="B7CE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8" name="evaluation">
            <a:extLst>
              <a:ext uri="{FF2B5EF4-FFF2-40B4-BE49-F238E27FC236}">
                <a16:creationId xmlns:a16="http://schemas.microsoft.com/office/drawing/2014/main" id="{8F195130-9FE6-A053-4C84-A0C94DFF67E5}"/>
              </a:ext>
            </a:extLst>
          </p:cNvPr>
          <p:cNvGrpSpPr/>
          <p:nvPr/>
        </p:nvGrpSpPr>
        <p:grpSpPr>
          <a:xfrm>
            <a:off x="11963400" y="7000875"/>
            <a:ext cx="2476500" cy="752475"/>
            <a:chOff x="11963400" y="7000875"/>
            <a:chExt cx="2476500" cy="752475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D90662E3-C399-0797-B7B5-A16CC898AF76}"/>
                </a:ext>
              </a:extLst>
            </p:cNvPr>
            <p:cNvSpPr txBox="1"/>
            <p:nvPr/>
          </p:nvSpPr>
          <p:spPr>
            <a:xfrm>
              <a:off x="11963400" y="7000875"/>
              <a:ext cx="2476500" cy="36195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875" b="1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System evaluation</a:t>
              </a:r>
              <a:endParaRPr lang="zh-CN" altLang="en-US" sz="18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A493A53-8B93-02C9-28F1-C6BB336425EE}"/>
                </a:ext>
              </a:extLst>
            </p:cNvPr>
            <p:cNvSpPr txBox="1"/>
            <p:nvPr/>
          </p:nvSpPr>
          <p:spPr>
            <a:xfrm>
              <a:off x="11963400" y="7458075"/>
              <a:ext cx="2457450" cy="295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t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en-US" altLang="zh-CN" sz="1425">
                  <a:solidFill>
                    <a:srgbClr val="B7CED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Controls · Generalization</a:t>
              </a:r>
              <a:endParaRPr lang="zh-CN" altLang="en-US" sz="1425">
                <a:solidFill>
                  <a:srgbClr val="B7CE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9" name="task-route">
            <a:extLst>
              <a:ext uri="{FF2B5EF4-FFF2-40B4-BE49-F238E27FC236}">
                <a16:creationId xmlns:a16="http://schemas.microsoft.com/office/drawing/2014/main" id="{C5B3B027-F824-E5AB-3C01-BFEE93C4D528}"/>
              </a:ext>
            </a:extLst>
          </p:cNvPr>
          <p:cNvGrpSpPr/>
          <p:nvPr/>
        </p:nvGrpSpPr>
        <p:grpSpPr>
          <a:xfrm>
            <a:off x="7477125" y="7210425"/>
            <a:ext cx="4267200" cy="0"/>
            <a:chOff x="7477125" y="7210425"/>
            <a:chExt cx="4267200" cy="0"/>
          </a:xfrm>
        </p:grpSpPr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E104351C-EE13-CC11-FEE6-9660074E195D}"/>
                </a:ext>
              </a:extLst>
            </p:cNvPr>
            <p:cNvCxnSpPr/>
            <p:nvPr/>
          </p:nvCxnSpPr>
          <p:spPr>
            <a:xfrm>
              <a:off x="7477125" y="7210425"/>
              <a:ext cx="628650" cy="0"/>
            </a:xfrm>
            <a:prstGeom prst="straightConnector1">
              <a:avLst/>
            </a:prstGeom>
            <a:ln w="17145">
              <a:solidFill>
                <a:srgbClr val="B7CED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ADB2FBD7-D73B-182A-CB64-9C7E467CE65B}"/>
                </a:ext>
              </a:extLst>
            </p:cNvPr>
            <p:cNvCxnSpPr/>
            <p:nvPr/>
          </p:nvCxnSpPr>
          <p:spPr>
            <a:xfrm>
              <a:off x="11125200" y="7210425"/>
              <a:ext cx="619125" cy="0"/>
            </a:xfrm>
            <a:prstGeom prst="straightConnector1">
              <a:avLst/>
            </a:prstGeom>
            <a:ln w="17145">
              <a:solidFill>
                <a:srgbClr val="B7CED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B3A036D5-D703-BBC2-3B84-30BA0A9B572E}"/>
              </a:ext>
            </a:extLst>
          </p:cNvPr>
          <p:cNvSpPr txBox="1"/>
          <p:nvPr/>
        </p:nvSpPr>
        <p:spPr>
          <a:xfrm>
            <a:off x="914400" y="7905750"/>
            <a:ext cx="13239750" cy="295275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altLang="zh-CN" sz="1425">
                <a:solidFill>
                  <a:srgbClr val="B7CED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Task-first entry: start with the embodied overview, then revisit foundations as needed.</a:t>
            </a:r>
            <a:endParaRPr lang="zh-CN" altLang="en-US" sz="1425">
              <a:solidFill>
                <a:srgbClr val="B7CED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9914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Microsoft Office PowerPoint</Application>
  <PresentationFormat>自定义</PresentationFormat>
  <Paragraphs>90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渡渡鸟 柘城县</dc:creator>
  <cp:lastModifiedBy>渡渡鸟 柘城县</cp:lastModifiedBy>
  <cp:revision>1</cp:revision>
  <dcterms:created xsi:type="dcterms:W3CDTF">2026-10-31T15:37:12Z</dcterms:created>
  <dcterms:modified xsi:type="dcterms:W3CDTF">2026-10-31T15:37:12Z</dcterms:modified>
</cp:coreProperties>
</file>